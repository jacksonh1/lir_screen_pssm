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98" r:id="rId2"/>
    <p:sldId id="331" r:id="rId3"/>
    <p:sldId id="343" r:id="rId4"/>
    <p:sldId id="344" r:id="rId5"/>
    <p:sldId id="356" r:id="rId6"/>
    <p:sldId id="342" r:id="rId7"/>
    <p:sldId id="345" r:id="rId8"/>
    <p:sldId id="346" r:id="rId9"/>
    <p:sldId id="347" r:id="rId10"/>
    <p:sldId id="334" r:id="rId11"/>
    <p:sldId id="320" r:id="rId12"/>
    <p:sldId id="329" r:id="rId13"/>
    <p:sldId id="312" r:id="rId14"/>
    <p:sldId id="33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67"/>
    <p:restoredTop sz="96530"/>
  </p:normalViewPr>
  <p:slideViewPr>
    <p:cSldViewPr snapToGrid="0">
      <p:cViewPr varScale="1">
        <p:scale>
          <a:sx n="141" d="100"/>
          <a:sy n="141" d="100"/>
        </p:scale>
        <p:origin x="1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9B552-18C9-9441-92C1-ACCAECF534DC}" type="datetimeFigureOut">
              <a:t>7/14/25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D09E5-0668-2744-8BB3-50BEC0AA90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6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D09E5-0668-2744-8BB3-50BEC0AA9097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B3A3B-5C90-BF07-A655-03593BAA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9FB81-5068-BBFC-54EB-75BBB0406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592F4-0BAB-524D-4647-09DDB53CF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53265-5681-DA87-1B18-609BF45ED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D09E5-0668-2744-8BB3-50BEC0AA9097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71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3B61-ED8F-81D6-C4B0-DEA17D265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6EFCC-A934-F49F-45BB-DD7184F95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CE373-82D2-6CC6-C034-F38DCD1F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F4EE-FA94-77B7-99C1-0A1A3E61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F917B-A193-A424-EB06-29C9A84E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6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7B9F-4F51-4E39-E73F-A4D138EF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82B0B-2844-C5B3-FEF8-81837B043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28D8E-A972-83D1-2A3D-F9FFB030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23D9F-EE5E-2E55-93C7-BD075DFC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79C25-72E1-0BFF-6FDD-254E21EB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9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905CC-96CA-8275-C6E1-B0692615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DF42A-1EF2-5BF8-DA12-E0742F019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C54FD-5C2C-5020-94BE-CA998EE4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FDEBD-BCBF-0346-0E87-3B742860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F5A63-E373-0B7D-4D49-1E2BEBF5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8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A1B1-D255-3737-C291-F5CF773E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0B5A4-C515-3BE8-F483-16BA6AE13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B4D5D-DA81-64CE-16B8-9455F7040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75ABF-46DC-3A4B-D2F3-225AA84A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1FE9E-7D1F-BE6E-BC4E-2B985BCE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44912-6758-8356-E736-ACD8B65A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4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6679-FBBA-9836-3D3E-F65659CA1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22C14-AF00-87AB-1675-D03A19BC5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ED212-FF87-72A8-AE19-91E9DFEAA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4862-DD3E-A3B6-527B-642F8CD7B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9FC51-AC31-F7BB-6F1F-F7DE9B2D5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96328-5A0F-C359-465F-7EA7119C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DE6DBD-DE85-FDC5-B0FB-AA3452D3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DE995-EE0A-4D1C-4849-FBDD05B5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3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C383-C3DE-45F7-20BA-450B8353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4BB07-199F-2EF3-E681-4B8E92A67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83D06-C33C-F5A9-655A-C0FEE49B6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9EEE3-98F9-3496-4CE4-F24F4758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3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F391E-2054-3AF1-6687-E06929A1E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D3EF3-9E4D-2E63-4EE6-BF05D256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D2854-16E8-0C4A-B068-3EB0F27C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6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DE49-2742-B431-5712-A8EFDE52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0D8B-361E-4F6C-ABBC-5C9B59A6D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240F3-B9BB-BC2D-CE09-807159F5F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AB438-FF23-67F9-E92F-CAFE372D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C1CF7-82CD-B62A-390B-38D6D9DF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90DF3-89C0-2510-8648-71DA10FC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5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84AB1-1E36-EA33-ADFF-BAA6F62CF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A4319-23BA-38C5-9D83-9090082BC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4BB8F-E9BA-3030-8419-9478B85BA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CFF5C-A78E-A45C-2AC4-DB4475ECC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07D3C-76A1-2809-A05F-36644F54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F848C-6C7F-E6B4-6FF3-D77EE07B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90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B052-08C2-FC5B-CDA9-750B36ED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D6E98-2379-314B-CE45-5FE713D0B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D9700-2932-9096-C488-A5CC1B6F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2BD9-9032-B4BF-7521-F3F3F1C5E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543A-935D-F946-79AB-67880C9E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5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63B0A-FD9B-2415-2089-AA5B48D02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839C1-2AE5-A78E-BCE3-D0B9C24CB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E725C-A118-39FA-D935-10B93E05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5B110-3478-F438-E4C1-190C9864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0E276-190B-0B60-68B2-F14CD994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3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835131-CF58-C002-7741-0C8AF9B8D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D74C0-012D-14FB-D378-21CD9B150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50E74-9F08-0526-3EBB-2616FD2B3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0EF73-FF66-D34F-8F38-81D2C270D667}" type="datetimeFigureOut"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58391-BDED-757D-C73A-0851A7809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39C60-3BDF-6D9A-106F-871299EA1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407E8-68B7-DB4E-AB7F-9E95628990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8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07DFE6-9AA4-0A79-2CB4-03A84A50E45C}"/>
              </a:ext>
            </a:extLst>
          </p:cNvPr>
          <p:cNvSpPr txBox="1"/>
          <p:nvPr/>
        </p:nvSpPr>
        <p:spPr>
          <a:xfrm>
            <a:off x="5138453" y="2673339"/>
            <a:ext cx="19906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Lir analysis</a:t>
            </a:r>
          </a:p>
        </p:txBody>
      </p:sp>
    </p:spTree>
    <p:extLst>
      <p:ext uri="{BB962C8B-B14F-4D97-AF65-F5344CB8AC3E}">
        <p14:creationId xmlns:p14="http://schemas.microsoft.com/office/powerpoint/2010/main" val="349100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7555D-96E4-8782-EB9B-B63A9A1D89F5}"/>
              </a:ext>
            </a:extLst>
          </p:cNvPr>
          <p:cNvSpPr txBox="1"/>
          <p:nvPr/>
        </p:nvSpPr>
        <p:spPr>
          <a:xfrm>
            <a:off x="765313" y="1421296"/>
            <a:ext cx="10878619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b="1">
                <a:latin typeface="Avenir Book" panose="02000503020000020003" pitchFamily="2" charset="0"/>
              </a:rPr>
              <a:t>Notes on processing in subsequent analyses: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expanded ilir 6mers to 7mers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reduced screening motifs to 7mers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removed duplicate 7mers from lir central test set, ilir set, and screening sets (binders and nonbinders)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removed 7mers from screening sets that are present in ilir set</a:t>
            </a:r>
          </a:p>
          <a:p>
            <a:pPr marL="285750" indent="-285750" algn="l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removed 7mers from screening sets that were present in both nonbinder and binder sets</a:t>
            </a:r>
          </a:p>
        </p:txBody>
      </p:sp>
    </p:spTree>
    <p:extLst>
      <p:ext uri="{BB962C8B-B14F-4D97-AF65-F5344CB8AC3E}">
        <p14:creationId xmlns:p14="http://schemas.microsoft.com/office/powerpoint/2010/main" val="3750215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8E52-0A74-DA5F-A43E-9EC9366B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B1406E-BB94-746D-3E48-34A68701F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67" y="1135388"/>
            <a:ext cx="7772400" cy="41137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A668DB-03C3-3C23-5449-60E53DFEAA1D}"/>
              </a:ext>
            </a:extLst>
          </p:cNvPr>
          <p:cNvSpPr txBox="1"/>
          <p:nvPr/>
        </p:nvSpPr>
        <p:spPr>
          <a:xfrm>
            <a:off x="501445" y="157316"/>
            <a:ext cx="449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latin typeface="Avenir Black" panose="02000503020000020003" pitchFamily="2" charset="0"/>
              </a:rPr>
              <a:t>issue with how python handles regexes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040F0-4A1A-09BB-E120-E1BFF02BB6AB}"/>
              </a:ext>
            </a:extLst>
          </p:cNvPr>
          <p:cNvSpPr txBox="1"/>
          <p:nvPr/>
        </p:nvSpPr>
        <p:spPr>
          <a:xfrm>
            <a:off x="362053" y="5906142"/>
            <a:ext cx="11008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For the starting dataset, when overlapping motifs were present, only the first (N-term) motif was counted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1603EC-AFC9-B7FD-60FE-E30E7989589D}"/>
              </a:ext>
            </a:extLst>
          </p:cNvPr>
          <p:cNvCxnSpPr>
            <a:cxnSpLocks/>
          </p:cNvCxnSpPr>
          <p:nvPr/>
        </p:nvCxnSpPr>
        <p:spPr>
          <a:xfrm flipH="1">
            <a:off x="5971922" y="3010237"/>
            <a:ext cx="728283" cy="9063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E4E802D-7844-E51F-1375-0CF02AC2DAA4}"/>
              </a:ext>
            </a:extLst>
          </p:cNvPr>
          <p:cNvSpPr txBox="1"/>
          <p:nvPr/>
        </p:nvSpPr>
        <p:spPr>
          <a:xfrm>
            <a:off x="5842450" y="2605636"/>
            <a:ext cx="194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lookahead group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35E7E-4B29-42A4-BDB8-6CF1350B48EF}"/>
              </a:ext>
            </a:extLst>
          </p:cNvPr>
          <p:cNvSpPr txBox="1"/>
          <p:nvPr/>
        </p:nvSpPr>
        <p:spPr>
          <a:xfrm>
            <a:off x="8108221" y="2047285"/>
            <a:ext cx="3932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IHLFNAFYCV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initial dataset would find 1 motif (FNAF)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should probably be 2 motifs (FNAF + FYCV)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Avenir Book" panose="02000503020000020003" pitchFamily="2" charset="0"/>
              </a:rPr>
              <a:t>If not 2 motifs, then how do you choose which one to use?</a:t>
            </a:r>
          </a:p>
        </p:txBody>
      </p:sp>
    </p:spTree>
    <p:extLst>
      <p:ext uri="{BB962C8B-B14F-4D97-AF65-F5344CB8AC3E}">
        <p14:creationId xmlns:p14="http://schemas.microsoft.com/office/powerpoint/2010/main" val="171639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29592-AC43-5369-FADE-74EC97D7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0E194-F46B-76F0-D1B6-2165D51FEE45}"/>
              </a:ext>
            </a:extLst>
          </p:cNvPr>
          <p:cNvSpPr txBox="1"/>
          <p:nvPr/>
        </p:nvSpPr>
        <p:spPr>
          <a:xfrm>
            <a:off x="105196" y="105196"/>
            <a:ext cx="2725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Dataset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0A06F-7CA4-85DA-06E7-5F9CDEB01D5A}"/>
              </a:ext>
            </a:extLst>
          </p:cNvPr>
          <p:cNvSpPr txBox="1"/>
          <p:nvPr/>
        </p:nvSpPr>
        <p:spPr>
          <a:xfrm>
            <a:off x="283221" y="946768"/>
            <a:ext cx="4701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>
                <a:latin typeface="Avenir Black" panose="02000503020000020003" pitchFamily="2" charset="0"/>
              </a:rPr>
              <a:t>V1</a:t>
            </a:r>
            <a:r>
              <a:rPr lang="en-US">
                <a:latin typeface="Avenir Book" panose="02000503020000020003" pitchFamily="2" charset="0"/>
              </a:rPr>
              <a:t> – overlapping motifs were not accounted for in regex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6724F-38EC-BCC8-F697-42C1282B3DF7}"/>
              </a:ext>
            </a:extLst>
          </p:cNvPr>
          <p:cNvSpPr txBox="1"/>
          <p:nvPr/>
        </p:nvSpPr>
        <p:spPr>
          <a:xfrm>
            <a:off x="508451" y="3348754"/>
            <a:ext cx="462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latin typeface="Avenir Black" panose="02000503020000020003" pitchFamily="2" charset="0"/>
              </a:rPr>
              <a:t>V2</a:t>
            </a:r>
            <a:r>
              <a:rPr lang="en-US">
                <a:latin typeface="Avenir Book" panose="02000503020000020003" pitchFamily="2" charset="0"/>
              </a:rPr>
              <a:t> – removed any sequences with &gt;1 motif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A1A21B-D175-402D-ECF2-9616435D43AE}"/>
              </a:ext>
            </a:extLst>
          </p:cNvPr>
          <p:cNvSpPr txBox="1"/>
          <p:nvPr/>
        </p:nvSpPr>
        <p:spPr>
          <a:xfrm>
            <a:off x="200953" y="5396038"/>
            <a:ext cx="505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latin typeface="Avenir Black" panose="02000503020000020003" pitchFamily="2" charset="0"/>
              </a:rPr>
              <a:t>V3</a:t>
            </a:r>
            <a:r>
              <a:rPr lang="en-US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690EC2-4D72-BC45-3D5E-3037432D3A02}"/>
              </a:ext>
            </a:extLst>
          </p:cNvPr>
          <p:cNvSpPr txBox="1"/>
          <p:nvPr/>
        </p:nvSpPr>
        <p:spPr>
          <a:xfrm>
            <a:off x="461247" y="1586039"/>
            <a:ext cx="4070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There is no rationale I can think of to justify using this set? only v2 or v3 make sense to 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777BA-7341-2CCE-2AFD-66974EED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62" y="137565"/>
            <a:ext cx="2184850" cy="2293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941908-5106-3AE1-43FD-6A8E74AE5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038" y="2376192"/>
            <a:ext cx="2252687" cy="2364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9F2913-F09F-1AF7-69EB-1633B636B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378" y="4385885"/>
            <a:ext cx="2355242" cy="247211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CF2627-7AC9-99D9-3B8D-5D5FE95C5D82}"/>
              </a:ext>
            </a:extLst>
          </p:cNvPr>
          <p:cNvCxnSpPr/>
          <p:nvPr/>
        </p:nvCxnSpPr>
        <p:spPr>
          <a:xfrm flipV="1">
            <a:off x="5243639" y="3382471"/>
            <a:ext cx="2735108" cy="80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463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F8FB-E658-E774-1170-E8E676D7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835607-8918-BFDD-146A-C24C0C0ADE70}"/>
              </a:ext>
            </a:extLst>
          </p:cNvPr>
          <p:cNvSpPr txBox="1"/>
          <p:nvPr/>
        </p:nvSpPr>
        <p:spPr>
          <a:xfrm>
            <a:off x="1924557" y="2863231"/>
            <a:ext cx="9127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b="1">
                <a:latin typeface="Avenir Black" panose="02000503020000020003" pitchFamily="2" charset="0"/>
              </a:rPr>
              <a:t>V2</a:t>
            </a:r>
            <a:r>
              <a:rPr lang="en-US" sz="3600">
                <a:latin typeface="Avenir Book" panose="02000503020000020003" pitchFamily="2" charset="0"/>
              </a:rPr>
              <a:t> – removed any sequences with &gt;1 motif</a:t>
            </a:r>
          </a:p>
        </p:txBody>
      </p:sp>
    </p:spTree>
    <p:extLst>
      <p:ext uri="{BB962C8B-B14F-4D97-AF65-F5344CB8AC3E}">
        <p14:creationId xmlns:p14="http://schemas.microsoft.com/office/powerpoint/2010/main" val="411585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14242-094A-A451-17BD-A9353FDA370F}"/>
              </a:ext>
            </a:extLst>
          </p:cNvPr>
          <p:cNvSpPr txBox="1"/>
          <p:nvPr/>
        </p:nvSpPr>
        <p:spPr>
          <a:xfrm>
            <a:off x="95757" y="87664"/>
            <a:ext cx="6153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V2</a:t>
            </a:r>
            <a:r>
              <a:rPr lang="en-US" sz="2400">
                <a:latin typeface="Avenir Book" panose="02000503020000020003" pitchFamily="2" charset="0"/>
              </a:rPr>
              <a:t> – removed any sequences with &gt;1 motif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48EF7-43D0-6F7D-8A65-FF9C6D5A9FF5}"/>
              </a:ext>
            </a:extLst>
          </p:cNvPr>
          <p:cNvSpPr txBox="1"/>
          <p:nvPr/>
        </p:nvSpPr>
        <p:spPr>
          <a:xfrm>
            <a:off x="1554112" y="1566851"/>
            <a:ext cx="1780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>
                <a:latin typeface="Avenir Black" panose="02000503020000020003" pitchFamily="2" charset="0"/>
              </a:rPr>
              <a:t>screen binders</a:t>
            </a:r>
          </a:p>
          <a:p>
            <a:pPr algn="r"/>
            <a:r>
              <a:rPr lang="en-US">
                <a:latin typeface="Avenir Book" panose="02000503020000020003" pitchFamily="2" charset="0"/>
              </a:rPr>
              <a:t>(z-score &gt; 1.7)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D8EE2-7C64-AACB-C93D-5316F0439E3B}"/>
              </a:ext>
            </a:extLst>
          </p:cNvPr>
          <p:cNvSpPr txBox="1"/>
          <p:nvPr/>
        </p:nvSpPr>
        <p:spPr>
          <a:xfrm>
            <a:off x="364558" y="5066199"/>
            <a:ext cx="3119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>
                <a:latin typeface="Avenir Black" panose="02000503020000020003" pitchFamily="2" charset="0"/>
              </a:rPr>
              <a:t>screen nonbinders</a:t>
            </a:r>
          </a:p>
          <a:p>
            <a:pPr algn="r"/>
            <a:r>
              <a:rPr lang="en-US">
                <a:latin typeface="Avenir Book" panose="02000503020000020003" pitchFamily="2" charset="0"/>
              </a:rPr>
              <a:t>(dropped out after round 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91AB0-7565-548D-F3F4-DC55F09AA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31" y="664470"/>
            <a:ext cx="6578825" cy="28854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488072-BF27-4D82-7CF6-F83B687B9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888" y="3646926"/>
            <a:ext cx="8237692" cy="321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8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B99994-7B5C-6FCF-2429-D2D4A6430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549" y="1510344"/>
            <a:ext cx="3487667" cy="36607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D6DFCB-7745-7902-2992-3BA44CEB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4" y="4030750"/>
            <a:ext cx="6206593" cy="27187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3FF4E3-EA50-AC41-50DA-E343E4FBA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79" y="1090700"/>
            <a:ext cx="6416310" cy="2810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4E4E92-09BC-DCFD-17B6-A148F28A225A}"/>
              </a:ext>
            </a:extLst>
          </p:cNvPr>
          <p:cNvSpPr txBox="1"/>
          <p:nvPr/>
        </p:nvSpPr>
        <p:spPr>
          <a:xfrm>
            <a:off x="95757" y="87664"/>
            <a:ext cx="6153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V2</a:t>
            </a:r>
            <a:r>
              <a:rPr lang="en-US" sz="2400">
                <a:latin typeface="Avenir Book" panose="02000503020000020003" pitchFamily="2" charset="0"/>
              </a:rPr>
              <a:t> – removed any sequences with &gt;1 motif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E3FF51-94CA-CE29-C458-308D3C479E7D}"/>
              </a:ext>
            </a:extLst>
          </p:cNvPr>
          <p:cNvSpPr txBox="1"/>
          <p:nvPr/>
        </p:nvSpPr>
        <p:spPr>
          <a:xfrm>
            <a:off x="971044" y="1027688"/>
            <a:ext cx="1684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 binders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6BAFB-E464-C300-81BB-C4D7A3880EAF}"/>
              </a:ext>
            </a:extLst>
          </p:cNvPr>
          <p:cNvSpPr txBox="1"/>
          <p:nvPr/>
        </p:nvSpPr>
        <p:spPr>
          <a:xfrm>
            <a:off x="954860" y="3957005"/>
            <a:ext cx="1684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 binders</a:t>
            </a:r>
          </a:p>
        </p:txBody>
      </p:sp>
    </p:spTree>
    <p:extLst>
      <p:ext uri="{BB962C8B-B14F-4D97-AF65-F5344CB8AC3E}">
        <p14:creationId xmlns:p14="http://schemas.microsoft.com/office/powerpoint/2010/main" val="2588509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CB3A6D-FCB3-07E2-DFE8-29C5CC0EF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26" y="679729"/>
            <a:ext cx="5653275" cy="6064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7C22CE-6E8C-DF48-F72F-67D7431F8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549" y="1510344"/>
            <a:ext cx="3487667" cy="36607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56A67-EA32-C0DB-926D-017A716C4878}"/>
              </a:ext>
            </a:extLst>
          </p:cNvPr>
          <p:cNvSpPr txBox="1"/>
          <p:nvPr/>
        </p:nvSpPr>
        <p:spPr>
          <a:xfrm>
            <a:off x="95757" y="87664"/>
            <a:ext cx="6153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V2</a:t>
            </a:r>
            <a:r>
              <a:rPr lang="en-US" sz="2400">
                <a:latin typeface="Avenir Book" panose="02000503020000020003" pitchFamily="2" charset="0"/>
              </a:rPr>
              <a:t> – removed any sequences with &gt;1 motif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BD1C3-C1A3-A4E0-B0BB-00C23C0118E0}"/>
              </a:ext>
            </a:extLst>
          </p:cNvPr>
          <p:cNvSpPr txBox="1"/>
          <p:nvPr/>
        </p:nvSpPr>
        <p:spPr>
          <a:xfrm>
            <a:off x="56645" y="3131617"/>
            <a:ext cx="1327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 binders</a:t>
            </a:r>
          </a:p>
        </p:txBody>
      </p:sp>
    </p:spTree>
    <p:extLst>
      <p:ext uri="{BB962C8B-B14F-4D97-AF65-F5344CB8AC3E}">
        <p14:creationId xmlns:p14="http://schemas.microsoft.com/office/powerpoint/2010/main" val="4020283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AD45EB-DCAE-354F-FDA7-76E3AF42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940" y="861742"/>
            <a:ext cx="5477633" cy="24551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3BACF0-119C-6411-AC00-D958A8BE1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069" y="3915906"/>
            <a:ext cx="5696793" cy="249859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861E88F-3FEC-966B-80EA-B979FB72CEDA}"/>
              </a:ext>
            </a:extLst>
          </p:cNvPr>
          <p:cNvGrpSpPr/>
          <p:nvPr/>
        </p:nvGrpSpPr>
        <p:grpSpPr>
          <a:xfrm>
            <a:off x="485522" y="752914"/>
            <a:ext cx="3908453" cy="2898301"/>
            <a:chOff x="242761" y="202302"/>
            <a:chExt cx="4345423" cy="32223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6023F29-3AE1-1721-D6BE-9F433EDB3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0034"/>
            <a:stretch>
              <a:fillRect/>
            </a:stretch>
          </p:blipFill>
          <p:spPr>
            <a:xfrm>
              <a:off x="267710" y="250854"/>
              <a:ext cx="4304289" cy="317378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F14EA0-4F28-1014-7477-7EDDFE6C9418}"/>
                </a:ext>
              </a:extLst>
            </p:cNvPr>
            <p:cNvSpPr/>
            <p:nvPr/>
          </p:nvSpPr>
          <p:spPr>
            <a:xfrm>
              <a:off x="242761" y="202302"/>
              <a:ext cx="4345423" cy="31558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D6D00D-CE22-346A-DAEE-92412D3F5BB3}"/>
              </a:ext>
            </a:extLst>
          </p:cNvPr>
          <p:cNvGrpSpPr/>
          <p:nvPr/>
        </p:nvGrpSpPr>
        <p:grpSpPr>
          <a:xfrm>
            <a:off x="485522" y="3710988"/>
            <a:ext cx="3819441" cy="2827378"/>
            <a:chOff x="242761" y="3479576"/>
            <a:chExt cx="4361607" cy="32287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F98AC1E-1CFB-5D7C-B5C6-2A141FCF3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0486"/>
            <a:stretch>
              <a:fillRect/>
            </a:stretch>
          </p:blipFill>
          <p:spPr>
            <a:xfrm>
              <a:off x="242761" y="3486935"/>
              <a:ext cx="4313055" cy="320922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5AC269-E55E-17FF-6612-BD17DA675A52}"/>
                </a:ext>
              </a:extLst>
            </p:cNvPr>
            <p:cNvSpPr/>
            <p:nvPr/>
          </p:nvSpPr>
          <p:spPr>
            <a:xfrm>
              <a:off x="258945" y="3479576"/>
              <a:ext cx="4345423" cy="32287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271C182-EB4B-5665-7316-A9FD6291EB88}"/>
              </a:ext>
            </a:extLst>
          </p:cNvPr>
          <p:cNvSpPr txBox="1"/>
          <p:nvPr/>
        </p:nvSpPr>
        <p:spPr>
          <a:xfrm>
            <a:off x="95757" y="87664"/>
            <a:ext cx="6153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V2</a:t>
            </a:r>
            <a:r>
              <a:rPr lang="en-US" sz="2400">
                <a:latin typeface="Avenir Book" panose="02000503020000020003" pitchFamily="2" charset="0"/>
              </a:rPr>
              <a:t> – removed any sequences with &gt;1 motif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0B0C28-8242-EF0D-2A75-07F730118A57}"/>
              </a:ext>
            </a:extLst>
          </p:cNvPr>
          <p:cNvSpPr txBox="1"/>
          <p:nvPr/>
        </p:nvSpPr>
        <p:spPr>
          <a:xfrm>
            <a:off x="6481721" y="3835625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</a:t>
            </a:r>
          </a:p>
        </p:txBody>
      </p:sp>
    </p:spTree>
    <p:extLst>
      <p:ext uri="{BB962C8B-B14F-4D97-AF65-F5344CB8AC3E}">
        <p14:creationId xmlns:p14="http://schemas.microsoft.com/office/powerpoint/2010/main" val="1935339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704A-0B1E-DEB4-F5A3-0A721D9D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92FB47-26D6-BE4E-B2EB-4A37C1E46B2F}"/>
              </a:ext>
            </a:extLst>
          </p:cNvPr>
          <p:cNvSpPr txBox="1"/>
          <p:nvPr/>
        </p:nvSpPr>
        <p:spPr>
          <a:xfrm>
            <a:off x="728105" y="3167798"/>
            <a:ext cx="169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3DD07F-2567-4AE3-D86F-0095DE124DCC}"/>
              </a:ext>
            </a:extLst>
          </p:cNvPr>
          <p:cNvCxnSpPr/>
          <p:nvPr/>
        </p:nvCxnSpPr>
        <p:spPr>
          <a:xfrm flipV="1">
            <a:off x="2158698" y="2253398"/>
            <a:ext cx="870155" cy="766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0C03CB-289D-0E72-06AB-9B81EE802F23}"/>
              </a:ext>
            </a:extLst>
          </p:cNvPr>
          <p:cNvCxnSpPr>
            <a:cxnSpLocks/>
          </p:cNvCxnSpPr>
          <p:nvPr/>
        </p:nvCxnSpPr>
        <p:spPr>
          <a:xfrm>
            <a:off x="2129201" y="3639746"/>
            <a:ext cx="899652" cy="899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13E961-2A58-AA9F-C87A-BB2E198A1EF8}"/>
              </a:ext>
            </a:extLst>
          </p:cNvPr>
          <p:cNvSpPr txBox="1"/>
          <p:nvPr/>
        </p:nvSpPr>
        <p:spPr>
          <a:xfrm>
            <a:off x="2969860" y="4790122"/>
            <a:ext cx="1601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[FWY]xx[FWY]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sequences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B3D0F-1379-48FE-9F97-87793C3A80EC}"/>
              </a:ext>
            </a:extLst>
          </p:cNvPr>
          <p:cNvSpPr txBox="1"/>
          <p:nvPr/>
        </p:nvSpPr>
        <p:spPr>
          <a:xfrm>
            <a:off x="3102595" y="1707709"/>
            <a:ext cx="1418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[FWY]xx[LVI]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sequences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638ECB-0E3C-1667-1F8F-9B824CCC569E}"/>
              </a:ext>
            </a:extLst>
          </p:cNvPr>
          <p:cNvCxnSpPr>
            <a:cxnSpLocks/>
          </p:cNvCxnSpPr>
          <p:nvPr/>
        </p:nvCxnSpPr>
        <p:spPr>
          <a:xfrm>
            <a:off x="4695419" y="5188327"/>
            <a:ext cx="1297860" cy="63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B34DF5-E11B-4EC5-1CDF-A48F3AA61A83}"/>
              </a:ext>
            </a:extLst>
          </p:cNvPr>
          <p:cNvSpPr txBox="1"/>
          <p:nvPr/>
        </p:nvSpPr>
        <p:spPr>
          <a:xfrm>
            <a:off x="3515551" y="5483295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(66)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BC1759-F936-6AFF-3F91-560FFF6A1BAA}"/>
              </a:ext>
            </a:extLst>
          </p:cNvPr>
          <p:cNvSpPr txBox="1"/>
          <p:nvPr/>
        </p:nvSpPr>
        <p:spPr>
          <a:xfrm>
            <a:off x="3427059" y="2430380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(212)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1EBE49-5631-E0D4-817E-C59057F17C92}"/>
              </a:ext>
            </a:extLst>
          </p:cNvPr>
          <p:cNvCxnSpPr>
            <a:cxnSpLocks/>
          </p:cNvCxnSpPr>
          <p:nvPr/>
        </p:nvCxnSpPr>
        <p:spPr>
          <a:xfrm flipV="1">
            <a:off x="4695419" y="4347669"/>
            <a:ext cx="1209370" cy="6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8CC690-1ACB-15F4-54F9-FBB8CFA5B363}"/>
              </a:ext>
            </a:extLst>
          </p:cNvPr>
          <p:cNvSpPr txBox="1"/>
          <p:nvPr/>
        </p:nvSpPr>
        <p:spPr>
          <a:xfrm>
            <a:off x="5919536" y="4126444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“train”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C90048-5662-6C3C-FF1C-B573E639034D}"/>
              </a:ext>
            </a:extLst>
          </p:cNvPr>
          <p:cNvSpPr txBox="1"/>
          <p:nvPr/>
        </p:nvSpPr>
        <p:spPr>
          <a:xfrm>
            <a:off x="5543452" y="5869211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[FWY]xx[FWY] test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416AE8-8CF7-320E-F955-AF003519F46F}"/>
              </a:ext>
            </a:extLst>
          </p:cNvPr>
          <p:cNvCxnSpPr>
            <a:cxnSpLocks/>
          </p:cNvCxnSpPr>
          <p:nvPr/>
        </p:nvCxnSpPr>
        <p:spPr>
          <a:xfrm flipV="1">
            <a:off x="4739664" y="1221011"/>
            <a:ext cx="1209370" cy="6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FC3A78-A932-7491-523C-73A668EBCF2E}"/>
              </a:ext>
            </a:extLst>
          </p:cNvPr>
          <p:cNvCxnSpPr>
            <a:cxnSpLocks/>
          </p:cNvCxnSpPr>
          <p:nvPr/>
        </p:nvCxnSpPr>
        <p:spPr>
          <a:xfrm>
            <a:off x="4754412" y="2076418"/>
            <a:ext cx="1194622" cy="339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2E717D1-E022-47DE-47B3-CF29A0F99630}"/>
              </a:ext>
            </a:extLst>
          </p:cNvPr>
          <p:cNvSpPr txBox="1"/>
          <p:nvPr/>
        </p:nvSpPr>
        <p:spPr>
          <a:xfrm>
            <a:off x="5998193" y="233205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“train”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44361E-2D99-7401-A3B6-56B85B936837}"/>
              </a:ext>
            </a:extLst>
          </p:cNvPr>
          <p:cNvSpPr txBox="1"/>
          <p:nvPr/>
        </p:nvSpPr>
        <p:spPr>
          <a:xfrm>
            <a:off x="5588861" y="524384"/>
            <a:ext cx="2488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[FWY]xx[LVI] test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AFB69E-EB18-4697-B394-5A643DBC8C23}"/>
              </a:ext>
            </a:extLst>
          </p:cNvPr>
          <p:cNvCxnSpPr>
            <a:cxnSpLocks/>
          </p:cNvCxnSpPr>
          <p:nvPr/>
        </p:nvCxnSpPr>
        <p:spPr>
          <a:xfrm>
            <a:off x="6879771" y="2989943"/>
            <a:ext cx="337624" cy="26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6BE4239-E449-0CA6-AEA7-C00A8EA59251}"/>
              </a:ext>
            </a:extLst>
          </p:cNvPr>
          <p:cNvCxnSpPr>
            <a:cxnSpLocks/>
          </p:cNvCxnSpPr>
          <p:nvPr/>
        </p:nvCxnSpPr>
        <p:spPr>
          <a:xfrm flipV="1">
            <a:off x="6730698" y="3536508"/>
            <a:ext cx="442451" cy="516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FCF20E0-7477-DE15-936F-3BFBDCB3619D}"/>
              </a:ext>
            </a:extLst>
          </p:cNvPr>
          <p:cNvSpPr txBox="1"/>
          <p:nvPr/>
        </p:nvSpPr>
        <p:spPr>
          <a:xfrm>
            <a:off x="7409124" y="3212044"/>
            <a:ext cx="1283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recombine</a:t>
            </a:r>
          </a:p>
        </p:txBody>
      </p:sp>
      <p:sp>
        <p:nvSpPr>
          <p:cNvPr id="33" name="5-Point Star 32">
            <a:extLst>
              <a:ext uri="{FF2B5EF4-FFF2-40B4-BE49-F238E27FC236}">
                <a16:creationId xmlns:a16="http://schemas.microsoft.com/office/drawing/2014/main" id="{3487FCD8-4EA6-1092-7A48-2E8A1336BBBC}"/>
              </a:ext>
            </a:extLst>
          </p:cNvPr>
          <p:cNvSpPr/>
          <p:nvPr/>
        </p:nvSpPr>
        <p:spPr>
          <a:xfrm>
            <a:off x="6492620" y="248160"/>
            <a:ext cx="294968" cy="2507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20C63E6C-C8A1-0EF9-C01B-C9573D437F5F}"/>
              </a:ext>
            </a:extLst>
          </p:cNvPr>
          <p:cNvSpPr/>
          <p:nvPr/>
        </p:nvSpPr>
        <p:spPr>
          <a:xfrm>
            <a:off x="6350108" y="5533889"/>
            <a:ext cx="294968" cy="2507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0EDA6A-3D22-D96F-EA6D-C582BFEA340F}"/>
              </a:ext>
            </a:extLst>
          </p:cNvPr>
          <p:cNvCxnSpPr>
            <a:cxnSpLocks/>
          </p:cNvCxnSpPr>
          <p:nvPr/>
        </p:nvCxnSpPr>
        <p:spPr>
          <a:xfrm>
            <a:off x="8682055" y="3409174"/>
            <a:ext cx="515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3495160-22D3-88BE-08A5-C6B99BD76376}"/>
              </a:ext>
            </a:extLst>
          </p:cNvPr>
          <p:cNvSpPr txBox="1"/>
          <p:nvPr/>
        </p:nvSpPr>
        <p:spPr>
          <a:xfrm>
            <a:off x="9351756" y="3125839"/>
            <a:ext cx="2345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PSSMs from different</a:t>
            </a:r>
          </a:p>
          <a:p>
            <a:pPr algn="l"/>
            <a:r>
              <a:rPr lang="en-US">
                <a:latin typeface="Avenir Book" panose="02000503020000020003" pitchFamily="2" charset="0"/>
              </a:rPr>
              <a:t>z-score ranges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BB492BD-DF68-9D1A-2EFF-4FAA4F96D60F}"/>
              </a:ext>
            </a:extLst>
          </p:cNvPr>
          <p:cNvCxnSpPr/>
          <p:nvPr/>
        </p:nvCxnSpPr>
        <p:spPr>
          <a:xfrm flipV="1">
            <a:off x="6917650" y="2005376"/>
            <a:ext cx="643943" cy="30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D566FD7-F1A8-C83C-0646-B640E07EA34B}"/>
              </a:ext>
            </a:extLst>
          </p:cNvPr>
          <p:cNvSpPr txBox="1"/>
          <p:nvPr/>
        </p:nvSpPr>
        <p:spPr>
          <a:xfrm>
            <a:off x="7615475" y="1799313"/>
            <a:ext cx="214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[FWY]xx[LVI] PSSM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6D3E76-AA15-470D-1A94-D9C391D38CE5}"/>
              </a:ext>
            </a:extLst>
          </p:cNvPr>
          <p:cNvSpPr txBox="1"/>
          <p:nvPr/>
        </p:nvSpPr>
        <p:spPr>
          <a:xfrm>
            <a:off x="7316193" y="4956477"/>
            <a:ext cx="257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[FWY]xx[FWY] PSSM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590A721-7B88-3830-C699-4B9524FF1B04}"/>
              </a:ext>
            </a:extLst>
          </p:cNvPr>
          <p:cNvCxnSpPr>
            <a:cxnSpLocks/>
          </p:cNvCxnSpPr>
          <p:nvPr/>
        </p:nvCxnSpPr>
        <p:spPr>
          <a:xfrm>
            <a:off x="6860003" y="4536177"/>
            <a:ext cx="502275" cy="386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A29EB670-BA44-59D0-212C-B6F3A8353FE4}"/>
              </a:ext>
            </a:extLst>
          </p:cNvPr>
          <p:cNvSpPr/>
          <p:nvPr/>
        </p:nvSpPr>
        <p:spPr>
          <a:xfrm>
            <a:off x="9028914" y="4580852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139188A3-1523-17F7-0368-90A224A63CA0}"/>
              </a:ext>
            </a:extLst>
          </p:cNvPr>
          <p:cNvSpPr/>
          <p:nvPr/>
        </p:nvSpPr>
        <p:spPr>
          <a:xfrm>
            <a:off x="9196339" y="1567196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36DD330A-1A95-C4EA-B43B-3E378D31C963}"/>
              </a:ext>
            </a:extLst>
          </p:cNvPr>
          <p:cNvSpPr/>
          <p:nvPr/>
        </p:nvSpPr>
        <p:spPr>
          <a:xfrm>
            <a:off x="11025139" y="2855084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0722B-AD42-9E12-B905-22FC19B32727}"/>
              </a:ext>
            </a:extLst>
          </p:cNvPr>
          <p:cNvSpPr txBox="1"/>
          <p:nvPr/>
        </p:nvSpPr>
        <p:spPr>
          <a:xfrm>
            <a:off x="5223329" y="6230257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 and nonbinders)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6C263-76B1-D316-4668-19D94B63A3DC}"/>
              </a:ext>
            </a:extLst>
          </p:cNvPr>
          <p:cNvSpPr txBox="1"/>
          <p:nvPr/>
        </p:nvSpPr>
        <p:spPr>
          <a:xfrm>
            <a:off x="5849256" y="4397829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0DE08-9E9F-1D1D-5154-1B75123C2041}"/>
              </a:ext>
            </a:extLst>
          </p:cNvPr>
          <p:cNvSpPr txBox="1"/>
          <p:nvPr/>
        </p:nvSpPr>
        <p:spPr>
          <a:xfrm>
            <a:off x="5972628" y="260531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9673E-EC9D-BA15-DBB0-34872624800B}"/>
              </a:ext>
            </a:extLst>
          </p:cNvPr>
          <p:cNvSpPr txBox="1"/>
          <p:nvPr/>
        </p:nvSpPr>
        <p:spPr>
          <a:xfrm>
            <a:off x="5136244" y="869043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 and nonbinders)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A55DD2-2697-3004-310D-82576272943D}"/>
              </a:ext>
            </a:extLst>
          </p:cNvPr>
          <p:cNvCxnSpPr>
            <a:cxnSpLocks/>
          </p:cNvCxnSpPr>
          <p:nvPr/>
        </p:nvCxnSpPr>
        <p:spPr>
          <a:xfrm>
            <a:off x="1304890" y="3657600"/>
            <a:ext cx="0" cy="142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5CDC9F-597E-E4E6-F52E-62FE769E7333}"/>
              </a:ext>
            </a:extLst>
          </p:cNvPr>
          <p:cNvSpPr txBox="1"/>
          <p:nvPr/>
        </p:nvSpPr>
        <p:spPr>
          <a:xfrm>
            <a:off x="224971" y="5121310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all binders (PSSM)</a:t>
            </a:r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C5359CCF-C4B2-B0D3-3850-454241543E23}"/>
              </a:ext>
            </a:extLst>
          </p:cNvPr>
          <p:cNvSpPr/>
          <p:nvPr/>
        </p:nvSpPr>
        <p:spPr>
          <a:xfrm>
            <a:off x="1515270" y="48312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6F02D7-5665-B077-A1D6-3E11E3AFFE11}"/>
              </a:ext>
            </a:extLst>
          </p:cNvPr>
          <p:cNvGrpSpPr/>
          <p:nvPr/>
        </p:nvGrpSpPr>
        <p:grpSpPr>
          <a:xfrm>
            <a:off x="98116" y="1169973"/>
            <a:ext cx="2235200" cy="850900"/>
            <a:chOff x="114300" y="165100"/>
            <a:chExt cx="2235200" cy="850900"/>
          </a:xfrm>
        </p:grpSpPr>
        <p:sp>
          <p:nvSpPr>
            <p:cNvPr id="23" name="5-Point Star 22">
              <a:extLst>
                <a:ext uri="{FF2B5EF4-FFF2-40B4-BE49-F238E27FC236}">
                  <a16:creationId xmlns:a16="http://schemas.microsoft.com/office/drawing/2014/main" id="{244D8567-A945-28ED-AB2A-FC0791CE648E}"/>
                </a:ext>
              </a:extLst>
            </p:cNvPr>
            <p:cNvSpPr/>
            <p:nvPr/>
          </p:nvSpPr>
          <p:spPr>
            <a:xfrm>
              <a:off x="340520" y="246555"/>
              <a:ext cx="294968" cy="250723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A3D31D89-57EA-5991-6BCB-3FBCAF909267}"/>
                </a:ext>
              </a:extLst>
            </p:cNvPr>
            <p:cNvSpPr/>
            <p:nvPr/>
          </p:nvSpPr>
          <p:spPr>
            <a:xfrm>
              <a:off x="114300" y="165100"/>
              <a:ext cx="2235200" cy="8509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4EF09C7-70D1-6D5A-AD45-7E67D0182C39}"/>
                </a:ext>
              </a:extLst>
            </p:cNvPr>
            <p:cNvSpPr txBox="1"/>
            <p:nvPr/>
          </p:nvSpPr>
          <p:spPr>
            <a:xfrm>
              <a:off x="685800" y="228600"/>
              <a:ext cx="1553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training set</a:t>
              </a:r>
            </a:p>
          </p:txBody>
        </p:sp>
        <p:sp>
          <p:nvSpPr>
            <p:cNvPr id="30" name="5-Point Star 29">
              <a:extLst>
                <a:ext uri="{FF2B5EF4-FFF2-40B4-BE49-F238E27FC236}">
                  <a16:creationId xmlns:a16="http://schemas.microsoft.com/office/drawing/2014/main" id="{D040A990-E888-7EB8-84C3-E8B877355C02}"/>
                </a:ext>
              </a:extLst>
            </p:cNvPr>
            <p:cNvSpPr/>
            <p:nvPr/>
          </p:nvSpPr>
          <p:spPr>
            <a:xfrm>
              <a:off x="349128" y="631173"/>
              <a:ext cx="294968" cy="250723"/>
            </a:xfrm>
            <a:prstGeom prst="star5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95E4486-4179-7B01-694A-546F1E75E527}"/>
                </a:ext>
              </a:extLst>
            </p:cNvPr>
            <p:cNvSpPr txBox="1"/>
            <p:nvPr/>
          </p:nvSpPr>
          <p:spPr>
            <a:xfrm>
              <a:off x="685800" y="571500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test set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6A5C553-D5AD-3D6E-C2A1-9460C7DB7B74}"/>
              </a:ext>
            </a:extLst>
          </p:cNvPr>
          <p:cNvSpPr txBox="1"/>
          <p:nvPr/>
        </p:nvSpPr>
        <p:spPr>
          <a:xfrm>
            <a:off x="11226800" y="119380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</a:t>
            </a:r>
          </a:p>
        </p:txBody>
      </p:sp>
      <p:sp>
        <p:nvSpPr>
          <p:cNvPr id="37" name="5-Point Star 36">
            <a:extLst>
              <a:ext uri="{FF2B5EF4-FFF2-40B4-BE49-F238E27FC236}">
                <a16:creationId xmlns:a16="http://schemas.microsoft.com/office/drawing/2014/main" id="{DAF34DC4-A62B-BEBD-4667-E4243CD00BCB}"/>
              </a:ext>
            </a:extLst>
          </p:cNvPr>
          <p:cNvSpPr/>
          <p:nvPr/>
        </p:nvSpPr>
        <p:spPr>
          <a:xfrm>
            <a:off x="11554620" y="9704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E3FBBB-A099-FA44-663C-F5B2BC022EAC}"/>
              </a:ext>
            </a:extLst>
          </p:cNvPr>
          <p:cNvSpPr txBox="1"/>
          <p:nvPr/>
        </p:nvSpPr>
        <p:spPr>
          <a:xfrm>
            <a:off x="10257204" y="555869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lir central</a:t>
            </a:r>
          </a:p>
        </p:txBody>
      </p:sp>
      <p:sp>
        <p:nvSpPr>
          <p:cNvPr id="40" name="5-Point Star 39">
            <a:extLst>
              <a:ext uri="{FF2B5EF4-FFF2-40B4-BE49-F238E27FC236}">
                <a16:creationId xmlns:a16="http://schemas.microsoft.com/office/drawing/2014/main" id="{62B29192-865D-A9A2-694A-59159456A02F}"/>
              </a:ext>
            </a:extLst>
          </p:cNvPr>
          <p:cNvSpPr/>
          <p:nvPr/>
        </p:nvSpPr>
        <p:spPr>
          <a:xfrm>
            <a:off x="11156828" y="351773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40FFC7-EC97-CAED-A899-6F437D578645}"/>
              </a:ext>
            </a:extLst>
          </p:cNvPr>
          <p:cNvSpPr txBox="1"/>
          <p:nvPr/>
        </p:nvSpPr>
        <p:spPr>
          <a:xfrm>
            <a:off x="2416934" y="80695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experiment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C73EA8-5F44-4150-EF75-21DD9CD887F0}"/>
              </a:ext>
            </a:extLst>
          </p:cNvPr>
          <p:cNvSpPr txBox="1"/>
          <p:nvPr/>
        </p:nvSpPr>
        <p:spPr>
          <a:xfrm>
            <a:off x="95757" y="103848"/>
            <a:ext cx="2178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>
                <a:latin typeface="Avenir Black" panose="02000503020000020003" pitchFamily="2" charset="0"/>
              </a:rPr>
              <a:t>V2</a:t>
            </a:r>
            <a:r>
              <a:rPr lang="en-US" sz="1600">
                <a:latin typeface="Avenir Book" panose="02000503020000020003" pitchFamily="2" charset="0"/>
              </a:rPr>
              <a:t> – removed any sequences with &gt;1 motif</a:t>
            </a:r>
          </a:p>
        </p:txBody>
      </p:sp>
    </p:spTree>
    <p:extLst>
      <p:ext uri="{BB962C8B-B14F-4D97-AF65-F5344CB8AC3E}">
        <p14:creationId xmlns:p14="http://schemas.microsoft.com/office/powerpoint/2010/main" val="2117648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6F630E-1E59-B03D-0148-2F2769C907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6"/>
          <a:stretch>
            <a:fillRect/>
          </a:stretch>
        </p:blipFill>
        <p:spPr>
          <a:xfrm>
            <a:off x="102694" y="1758655"/>
            <a:ext cx="11930164" cy="397050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95DC5E9-DAB8-5F34-E3E0-E5697607D3E0}"/>
              </a:ext>
            </a:extLst>
          </p:cNvPr>
          <p:cNvSpPr/>
          <p:nvPr/>
        </p:nvSpPr>
        <p:spPr>
          <a:xfrm>
            <a:off x="1236361" y="1581478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C2E803C-F2DF-554B-F700-416E67673B6E}"/>
              </a:ext>
            </a:extLst>
          </p:cNvPr>
          <p:cNvCxnSpPr>
            <a:cxnSpLocks/>
          </p:cNvCxnSpPr>
          <p:nvPr/>
        </p:nvCxnSpPr>
        <p:spPr>
          <a:xfrm flipV="1">
            <a:off x="631179" y="4531540"/>
            <a:ext cx="89012" cy="1456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2506B4-CF02-02DE-CB1F-135176AB2946}"/>
              </a:ext>
            </a:extLst>
          </p:cNvPr>
          <p:cNvCxnSpPr>
            <a:cxnSpLocks/>
          </p:cNvCxnSpPr>
          <p:nvPr/>
        </p:nvCxnSpPr>
        <p:spPr>
          <a:xfrm>
            <a:off x="4426343" y="1335186"/>
            <a:ext cx="200795" cy="275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EDDFC1-9120-DFFF-54CC-1B832D77FF8B}"/>
              </a:ext>
            </a:extLst>
          </p:cNvPr>
          <p:cNvCxnSpPr>
            <a:cxnSpLocks/>
          </p:cNvCxnSpPr>
          <p:nvPr/>
        </p:nvCxnSpPr>
        <p:spPr>
          <a:xfrm>
            <a:off x="4741933" y="1165253"/>
            <a:ext cx="2184849" cy="5583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83017D2-E963-945F-BAC9-7848963F0F3E}"/>
              </a:ext>
            </a:extLst>
          </p:cNvPr>
          <p:cNvSpPr/>
          <p:nvPr/>
        </p:nvSpPr>
        <p:spPr>
          <a:xfrm>
            <a:off x="4091556" y="1626844"/>
            <a:ext cx="1394843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23DFEB-FB5E-07D7-D8EA-AB8E3AB9B225}"/>
              </a:ext>
            </a:extLst>
          </p:cNvPr>
          <p:cNvSpPr/>
          <p:nvPr/>
        </p:nvSpPr>
        <p:spPr>
          <a:xfrm>
            <a:off x="6917656" y="1646213"/>
            <a:ext cx="1514244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63130-ED52-F593-5744-5DB34FF603ED}"/>
              </a:ext>
            </a:extLst>
          </p:cNvPr>
          <p:cNvSpPr txBox="1"/>
          <p:nvPr/>
        </p:nvSpPr>
        <p:spPr>
          <a:xfrm>
            <a:off x="3613955" y="913367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test sets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9115D5-FC92-47B1-02B9-FB6F8713E29D}"/>
              </a:ext>
            </a:extLst>
          </p:cNvPr>
          <p:cNvSpPr txBox="1"/>
          <p:nvPr/>
        </p:nvSpPr>
        <p:spPr>
          <a:xfrm>
            <a:off x="234669" y="6018582"/>
            <a:ext cx="1302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 </a:t>
            </a:r>
          </a:p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(z-score &gt;= 1.7)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B2468D-6615-8570-935D-A116F06846DB}"/>
              </a:ext>
            </a:extLst>
          </p:cNvPr>
          <p:cNvCxnSpPr>
            <a:cxnSpLocks/>
          </p:cNvCxnSpPr>
          <p:nvPr/>
        </p:nvCxnSpPr>
        <p:spPr>
          <a:xfrm flipH="1">
            <a:off x="2451887" y="1229990"/>
            <a:ext cx="1149069" cy="4612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55E2C3-7969-024C-CE09-37C3FC924090}"/>
              </a:ext>
            </a:extLst>
          </p:cNvPr>
          <p:cNvSpPr txBox="1"/>
          <p:nvPr/>
        </p:nvSpPr>
        <p:spPr>
          <a:xfrm>
            <a:off x="2440351" y="5544596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z-score &gt;= 1.7</a:t>
            </a:r>
          </a:p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matching the motif shown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B177A1-67B3-1EB3-E17C-2F13D40263E8}"/>
              </a:ext>
            </a:extLst>
          </p:cNvPr>
          <p:cNvCxnSpPr>
            <a:cxnSpLocks/>
          </p:cNvCxnSpPr>
          <p:nvPr/>
        </p:nvCxnSpPr>
        <p:spPr>
          <a:xfrm flipH="1" flipV="1">
            <a:off x="2128205" y="5429757"/>
            <a:ext cx="589858" cy="1422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E8446D-E034-2FAC-876C-C0EB2F035AC1}"/>
              </a:ext>
            </a:extLst>
          </p:cNvPr>
          <p:cNvCxnSpPr>
            <a:cxnSpLocks/>
          </p:cNvCxnSpPr>
          <p:nvPr/>
        </p:nvCxnSpPr>
        <p:spPr>
          <a:xfrm flipH="1" flipV="1">
            <a:off x="2621819" y="5203180"/>
            <a:ext cx="222704" cy="320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D8A675-75AA-7966-33D6-2A810204164C}"/>
              </a:ext>
            </a:extLst>
          </p:cNvPr>
          <p:cNvCxnSpPr>
            <a:cxnSpLocks/>
          </p:cNvCxnSpPr>
          <p:nvPr/>
        </p:nvCxnSpPr>
        <p:spPr>
          <a:xfrm flipH="1">
            <a:off x="7878046" y="1254603"/>
            <a:ext cx="228600" cy="393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FA71C77-0C7E-5E73-3A20-744B9A023E98}"/>
              </a:ext>
            </a:extLst>
          </p:cNvPr>
          <p:cNvSpPr txBox="1"/>
          <p:nvPr/>
        </p:nvSpPr>
        <p:spPr>
          <a:xfrm>
            <a:off x="6680199" y="788186"/>
            <a:ext cx="240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binders (z-score &gt;= 1.7)</a:t>
            </a:r>
          </a:p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matching motif [FWY]xx[LVI]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40A33E-08A9-B213-0B58-AE61C3C343F1}"/>
              </a:ext>
            </a:extLst>
          </p:cNvPr>
          <p:cNvSpPr txBox="1"/>
          <p:nvPr/>
        </p:nvSpPr>
        <p:spPr>
          <a:xfrm>
            <a:off x="9528821" y="766159"/>
            <a:ext cx="2542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binders (z-score &gt;= 1.7)</a:t>
            </a:r>
          </a:p>
          <a:p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matching motif [FWY]xx[FWY]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24E15C-89A8-2263-A691-528F5A55884B}"/>
              </a:ext>
            </a:extLst>
          </p:cNvPr>
          <p:cNvCxnSpPr>
            <a:cxnSpLocks/>
          </p:cNvCxnSpPr>
          <p:nvPr/>
        </p:nvCxnSpPr>
        <p:spPr>
          <a:xfrm flipH="1">
            <a:off x="10636812" y="1310011"/>
            <a:ext cx="134586" cy="325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A0E59D-FD52-A4A8-D060-977B485812B7}"/>
              </a:ext>
            </a:extLst>
          </p:cNvPr>
          <p:cNvSpPr txBox="1"/>
          <p:nvPr/>
        </p:nvSpPr>
        <p:spPr>
          <a:xfrm>
            <a:off x="95757" y="87664"/>
            <a:ext cx="6153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V2</a:t>
            </a:r>
            <a:r>
              <a:rPr lang="en-US" sz="2400">
                <a:latin typeface="Avenir Book" panose="02000503020000020003" pitchFamily="2" charset="0"/>
              </a:rPr>
              <a:t> – removed any sequences with &gt;1 motif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BAE0AA-389B-F7EB-8711-30E1DA10436A}"/>
              </a:ext>
            </a:extLst>
          </p:cNvPr>
          <p:cNvSpPr txBox="1"/>
          <p:nvPr/>
        </p:nvSpPr>
        <p:spPr>
          <a:xfrm>
            <a:off x="62152" y="501481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experiment 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10A945-B1B9-654B-97E7-2BA8C70B9439}"/>
              </a:ext>
            </a:extLst>
          </p:cNvPr>
          <p:cNvSpPr/>
          <p:nvPr/>
        </p:nvSpPr>
        <p:spPr>
          <a:xfrm>
            <a:off x="9798421" y="1654305"/>
            <a:ext cx="1514244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5DB25B-A196-5D18-52B5-AD153754CBA6}"/>
              </a:ext>
            </a:extLst>
          </p:cNvPr>
          <p:cNvCxnSpPr>
            <a:cxnSpLocks/>
          </p:cNvCxnSpPr>
          <p:nvPr/>
        </p:nvCxnSpPr>
        <p:spPr>
          <a:xfrm>
            <a:off x="4830945" y="1132885"/>
            <a:ext cx="5017061" cy="6392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687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E729-62D5-574A-3D52-6116D251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E6C56B-EB59-C6D5-F726-33D009A83ACE}"/>
              </a:ext>
            </a:extLst>
          </p:cNvPr>
          <p:cNvSpPr txBox="1"/>
          <p:nvPr/>
        </p:nvSpPr>
        <p:spPr>
          <a:xfrm>
            <a:off x="1696026" y="3728412"/>
            <a:ext cx="169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39F4F54-80AB-CA6C-9604-04683A380219}"/>
              </a:ext>
            </a:extLst>
          </p:cNvPr>
          <p:cNvCxnSpPr>
            <a:cxnSpLocks/>
          </p:cNvCxnSpPr>
          <p:nvPr/>
        </p:nvCxnSpPr>
        <p:spPr>
          <a:xfrm>
            <a:off x="3460447" y="3972813"/>
            <a:ext cx="10925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58D8FB3-08B2-5564-DB14-2A43026837A4}"/>
              </a:ext>
            </a:extLst>
          </p:cNvPr>
          <p:cNvSpPr txBox="1"/>
          <p:nvPr/>
        </p:nvSpPr>
        <p:spPr>
          <a:xfrm>
            <a:off x="4775221" y="3657425"/>
            <a:ext cx="2422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binders from different</a:t>
            </a:r>
          </a:p>
          <a:p>
            <a:pPr algn="l"/>
            <a:r>
              <a:rPr lang="en-US">
                <a:latin typeface="Avenir Book" panose="02000503020000020003" pitchFamily="2" charset="0"/>
              </a:rPr>
              <a:t>z-score ranges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1808E5-9856-2547-2FE1-7C8E44EA90BD}"/>
              </a:ext>
            </a:extLst>
          </p:cNvPr>
          <p:cNvCxnSpPr>
            <a:cxnSpLocks/>
          </p:cNvCxnSpPr>
          <p:nvPr/>
        </p:nvCxnSpPr>
        <p:spPr>
          <a:xfrm>
            <a:off x="7234161" y="4030870"/>
            <a:ext cx="1048960" cy="637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61C43B-6E37-B290-0E84-B308001EB697}"/>
              </a:ext>
            </a:extLst>
          </p:cNvPr>
          <p:cNvCxnSpPr>
            <a:cxnSpLocks/>
          </p:cNvCxnSpPr>
          <p:nvPr/>
        </p:nvCxnSpPr>
        <p:spPr>
          <a:xfrm>
            <a:off x="7296150" y="2374899"/>
            <a:ext cx="963246" cy="31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24A793-F7B8-1FEB-2399-D2192E2B1C3E}"/>
              </a:ext>
            </a:extLst>
          </p:cNvPr>
          <p:cNvSpPr txBox="1"/>
          <p:nvPr/>
        </p:nvSpPr>
        <p:spPr>
          <a:xfrm>
            <a:off x="4712607" y="2157186"/>
            <a:ext cx="2402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nonbinders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F920E17-76E1-3A23-066B-2F73C6030622}"/>
              </a:ext>
            </a:extLst>
          </p:cNvPr>
          <p:cNvCxnSpPr>
            <a:cxnSpLocks/>
          </p:cNvCxnSpPr>
          <p:nvPr/>
        </p:nvCxnSpPr>
        <p:spPr>
          <a:xfrm flipV="1">
            <a:off x="3373361" y="2476500"/>
            <a:ext cx="1236739" cy="98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FB45A0-ABC7-86E8-7207-17851BA0AF61}"/>
              </a:ext>
            </a:extLst>
          </p:cNvPr>
          <p:cNvCxnSpPr>
            <a:cxnSpLocks/>
          </p:cNvCxnSpPr>
          <p:nvPr/>
        </p:nvCxnSpPr>
        <p:spPr>
          <a:xfrm flipV="1">
            <a:off x="7234161" y="3086100"/>
            <a:ext cx="1019932" cy="596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B2E9CD2-6D27-4A24-AC53-855FBEF0549F}"/>
              </a:ext>
            </a:extLst>
          </p:cNvPr>
          <p:cNvCxnSpPr>
            <a:cxnSpLocks/>
          </p:cNvCxnSpPr>
          <p:nvPr/>
        </p:nvCxnSpPr>
        <p:spPr>
          <a:xfrm>
            <a:off x="2301840" y="4305300"/>
            <a:ext cx="0" cy="142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1F12D4D-165C-054C-1CFE-72EE7AE900A2}"/>
              </a:ext>
            </a:extLst>
          </p:cNvPr>
          <p:cNvSpPr txBox="1"/>
          <p:nvPr/>
        </p:nvSpPr>
        <p:spPr>
          <a:xfrm>
            <a:off x="1221921" y="5769010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all binders (PSSM)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FF0496-022E-6BE4-954D-FD5232883077}"/>
              </a:ext>
            </a:extLst>
          </p:cNvPr>
          <p:cNvSpPr txBox="1"/>
          <p:nvPr/>
        </p:nvSpPr>
        <p:spPr>
          <a:xfrm>
            <a:off x="8364904" y="2740269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test set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4390A4-669F-A1B9-6520-1E629B1BD5C4}"/>
              </a:ext>
            </a:extLst>
          </p:cNvPr>
          <p:cNvSpPr txBox="1"/>
          <p:nvPr/>
        </p:nvSpPr>
        <p:spPr>
          <a:xfrm>
            <a:off x="8329735" y="460423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”train”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150935-F09F-D729-266A-174BF5B3EAE0}"/>
              </a:ext>
            </a:extLst>
          </p:cNvPr>
          <p:cNvSpPr txBox="1"/>
          <p:nvPr/>
        </p:nvSpPr>
        <p:spPr>
          <a:xfrm>
            <a:off x="9121042" y="45573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PSSM</a:t>
            </a: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9CE3D9B9-C717-9FDD-DF33-44F439EA4CEB}"/>
              </a:ext>
            </a:extLst>
          </p:cNvPr>
          <p:cNvSpPr/>
          <p:nvPr/>
        </p:nvSpPr>
        <p:spPr>
          <a:xfrm>
            <a:off x="9709657" y="4248787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B574ED03-D8F6-903A-4879-D58E514E56F9}"/>
              </a:ext>
            </a:extLst>
          </p:cNvPr>
          <p:cNvSpPr/>
          <p:nvPr/>
        </p:nvSpPr>
        <p:spPr>
          <a:xfrm>
            <a:off x="9264528" y="2536173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135FBB17-93BA-183F-22A4-54ED32FAB12A}"/>
              </a:ext>
            </a:extLst>
          </p:cNvPr>
          <p:cNvSpPr/>
          <p:nvPr/>
        </p:nvSpPr>
        <p:spPr>
          <a:xfrm>
            <a:off x="2474120" y="54916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FD2A1BE-7F2E-F0A8-3F71-53B15E446B76}"/>
              </a:ext>
            </a:extLst>
          </p:cNvPr>
          <p:cNvGrpSpPr/>
          <p:nvPr/>
        </p:nvGrpSpPr>
        <p:grpSpPr>
          <a:xfrm>
            <a:off x="127000" y="1529732"/>
            <a:ext cx="2235200" cy="850900"/>
            <a:chOff x="114300" y="165100"/>
            <a:chExt cx="2235200" cy="850900"/>
          </a:xfrm>
        </p:grpSpPr>
        <p:sp>
          <p:nvSpPr>
            <p:cNvPr id="49" name="5-Point Star 48">
              <a:extLst>
                <a:ext uri="{FF2B5EF4-FFF2-40B4-BE49-F238E27FC236}">
                  <a16:creationId xmlns:a16="http://schemas.microsoft.com/office/drawing/2014/main" id="{754FDAEE-3799-3B3B-3168-101870CF768F}"/>
                </a:ext>
              </a:extLst>
            </p:cNvPr>
            <p:cNvSpPr/>
            <p:nvPr/>
          </p:nvSpPr>
          <p:spPr>
            <a:xfrm>
              <a:off x="340520" y="246555"/>
              <a:ext cx="294968" cy="250723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801B15C-F4A3-DEA8-E11C-3B0BB7335B2B}"/>
                </a:ext>
              </a:extLst>
            </p:cNvPr>
            <p:cNvSpPr/>
            <p:nvPr/>
          </p:nvSpPr>
          <p:spPr>
            <a:xfrm>
              <a:off x="114300" y="165100"/>
              <a:ext cx="2235200" cy="8509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A68D4E-3934-136B-A53E-80AB206E22CE}"/>
                </a:ext>
              </a:extLst>
            </p:cNvPr>
            <p:cNvSpPr txBox="1"/>
            <p:nvPr/>
          </p:nvSpPr>
          <p:spPr>
            <a:xfrm>
              <a:off x="685800" y="228600"/>
              <a:ext cx="1553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training set</a:t>
              </a:r>
            </a:p>
          </p:txBody>
        </p:sp>
        <p:sp>
          <p:nvSpPr>
            <p:cNvPr id="7" name="5-Point Star 6">
              <a:extLst>
                <a:ext uri="{FF2B5EF4-FFF2-40B4-BE49-F238E27FC236}">
                  <a16:creationId xmlns:a16="http://schemas.microsoft.com/office/drawing/2014/main" id="{FE7F3B65-B519-F9A4-6144-AE72DA38BAD5}"/>
                </a:ext>
              </a:extLst>
            </p:cNvPr>
            <p:cNvSpPr/>
            <p:nvPr/>
          </p:nvSpPr>
          <p:spPr>
            <a:xfrm>
              <a:off x="349128" y="631173"/>
              <a:ext cx="294968" cy="250723"/>
            </a:xfrm>
            <a:prstGeom prst="star5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635626-EEA7-5654-94B2-0F6E1862152C}"/>
                </a:ext>
              </a:extLst>
            </p:cNvPr>
            <p:cNvSpPr txBox="1"/>
            <p:nvPr/>
          </p:nvSpPr>
          <p:spPr>
            <a:xfrm>
              <a:off x="685800" y="571500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test set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C2ACFE2-5F0D-79EC-69BC-97CAAA549950}"/>
              </a:ext>
            </a:extLst>
          </p:cNvPr>
          <p:cNvSpPr txBox="1"/>
          <p:nvPr/>
        </p:nvSpPr>
        <p:spPr>
          <a:xfrm>
            <a:off x="3313689" y="1893761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</a:t>
            </a:r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29BC5E91-DBB9-1DBA-68F1-43F4AB8FFB53}"/>
              </a:ext>
            </a:extLst>
          </p:cNvPr>
          <p:cNvSpPr/>
          <p:nvPr/>
        </p:nvSpPr>
        <p:spPr>
          <a:xfrm>
            <a:off x="3641509" y="1670416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F1338E-C42A-9352-2FE5-BBCEF5A17406}"/>
              </a:ext>
            </a:extLst>
          </p:cNvPr>
          <p:cNvSpPr txBox="1"/>
          <p:nvPr/>
        </p:nvSpPr>
        <p:spPr>
          <a:xfrm>
            <a:off x="8527531" y="1381145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lir central</a:t>
            </a:r>
          </a:p>
        </p:txBody>
      </p:sp>
      <p:sp>
        <p:nvSpPr>
          <p:cNvPr id="13" name="5-Point Star 12">
            <a:extLst>
              <a:ext uri="{FF2B5EF4-FFF2-40B4-BE49-F238E27FC236}">
                <a16:creationId xmlns:a16="http://schemas.microsoft.com/office/drawing/2014/main" id="{F1C21CFF-7083-CB6C-CA04-081DC262AC9D}"/>
              </a:ext>
            </a:extLst>
          </p:cNvPr>
          <p:cNvSpPr/>
          <p:nvPr/>
        </p:nvSpPr>
        <p:spPr>
          <a:xfrm>
            <a:off x="9427155" y="1177049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C4A5ED-D122-5FEA-F1B2-AD1FD136B70C}"/>
              </a:ext>
            </a:extLst>
          </p:cNvPr>
          <p:cNvSpPr txBox="1"/>
          <p:nvPr/>
        </p:nvSpPr>
        <p:spPr>
          <a:xfrm>
            <a:off x="2643512" y="185893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experiment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4A3FFC-8948-30F3-84C5-27950D535521}"/>
              </a:ext>
            </a:extLst>
          </p:cNvPr>
          <p:cNvSpPr txBox="1"/>
          <p:nvPr/>
        </p:nvSpPr>
        <p:spPr>
          <a:xfrm>
            <a:off x="5158015" y="4650015"/>
            <a:ext cx="1872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1.7&lt;= z-score &lt;= 2.0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A8C95F-12E1-1468-915D-CBA780280ADA}"/>
              </a:ext>
            </a:extLst>
          </p:cNvPr>
          <p:cNvSpPr txBox="1"/>
          <p:nvPr/>
        </p:nvSpPr>
        <p:spPr>
          <a:xfrm>
            <a:off x="5127172" y="4918529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2.0 &lt;= z-score &lt;= 2.5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52702A-AFDA-3C2B-0FC6-55D28C5A0024}"/>
              </a:ext>
            </a:extLst>
          </p:cNvPr>
          <p:cNvSpPr txBox="1"/>
          <p:nvPr/>
        </p:nvSpPr>
        <p:spPr>
          <a:xfrm>
            <a:off x="5128986" y="5217886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2.5 &lt;= z-score &lt;= 4.2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B258D1-1BC2-E152-D2DE-4F49F718BDC3}"/>
              </a:ext>
            </a:extLst>
          </p:cNvPr>
          <p:cNvSpPr txBox="1"/>
          <p:nvPr/>
        </p:nvSpPr>
        <p:spPr>
          <a:xfrm>
            <a:off x="5194300" y="4343400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1.7 &lt;= z-score &lt;= 4.2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262A6C-1B9A-10E3-AFE0-F59F00147A90}"/>
              </a:ext>
            </a:extLst>
          </p:cNvPr>
          <p:cNvCxnSpPr>
            <a:cxnSpLocks/>
          </p:cNvCxnSpPr>
          <p:nvPr/>
        </p:nvCxnSpPr>
        <p:spPr>
          <a:xfrm flipV="1">
            <a:off x="4762500" y="4506213"/>
            <a:ext cx="438149" cy="243587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5725622-5E7D-ACB0-6751-2FAC3CFC341A}"/>
              </a:ext>
            </a:extLst>
          </p:cNvPr>
          <p:cNvSpPr txBox="1"/>
          <p:nvPr/>
        </p:nvSpPr>
        <p:spPr>
          <a:xfrm>
            <a:off x="3784600" y="4762500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all binders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CB73C-FC04-8778-C83E-7240A6B96F0A}"/>
              </a:ext>
            </a:extLst>
          </p:cNvPr>
          <p:cNvSpPr txBox="1"/>
          <p:nvPr/>
        </p:nvSpPr>
        <p:spPr>
          <a:xfrm>
            <a:off x="95757" y="103848"/>
            <a:ext cx="2178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>
                <a:latin typeface="Avenir Black" panose="02000503020000020003" pitchFamily="2" charset="0"/>
              </a:rPr>
              <a:t>V2</a:t>
            </a:r>
            <a:r>
              <a:rPr lang="en-US" sz="1600">
                <a:latin typeface="Avenir Book" panose="02000503020000020003" pitchFamily="2" charset="0"/>
              </a:rPr>
              <a:t> – removed any sequences with &gt;1 motif</a:t>
            </a:r>
          </a:p>
        </p:txBody>
      </p:sp>
    </p:spTree>
    <p:extLst>
      <p:ext uri="{BB962C8B-B14F-4D97-AF65-F5344CB8AC3E}">
        <p14:creationId xmlns:p14="http://schemas.microsoft.com/office/powerpoint/2010/main" val="230069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2A1E-CE82-911E-016A-36DFC073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4599BE-E482-17DC-6A66-B157DFD2B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05"/>
          <a:stretch>
            <a:fillRect/>
          </a:stretch>
        </p:blipFill>
        <p:spPr>
          <a:xfrm>
            <a:off x="0" y="1738996"/>
            <a:ext cx="12081409" cy="401112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7AC13ED-7567-C223-3215-767AA0B8BC4A}"/>
              </a:ext>
            </a:extLst>
          </p:cNvPr>
          <p:cNvSpPr/>
          <p:nvPr/>
        </p:nvSpPr>
        <p:spPr>
          <a:xfrm>
            <a:off x="559214" y="1572711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FCE3CC-81B9-93E4-9445-A26411679CA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827533" y="934741"/>
            <a:ext cx="34110" cy="627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A5DF5866-3C16-BA0E-4F6A-24661702DBC8}"/>
              </a:ext>
            </a:extLst>
          </p:cNvPr>
          <p:cNvSpPr/>
          <p:nvPr/>
        </p:nvSpPr>
        <p:spPr>
          <a:xfrm>
            <a:off x="2961685" y="1589080"/>
            <a:ext cx="138373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C5FF7-AD20-B529-4384-97EE5EB3E4DF}"/>
              </a:ext>
            </a:extLst>
          </p:cNvPr>
          <p:cNvSpPr txBox="1"/>
          <p:nvPr/>
        </p:nvSpPr>
        <p:spPr>
          <a:xfrm>
            <a:off x="3346918" y="565409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test sets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A9BC43-B2A0-8B26-731E-93F9DF7AF5BD}"/>
              </a:ext>
            </a:extLst>
          </p:cNvPr>
          <p:cNvCxnSpPr>
            <a:cxnSpLocks/>
          </p:cNvCxnSpPr>
          <p:nvPr/>
        </p:nvCxnSpPr>
        <p:spPr>
          <a:xfrm flipH="1">
            <a:off x="1715512" y="841572"/>
            <a:ext cx="1658867" cy="7525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D5DE0A7-4D8D-CE31-3102-CF72FEACC6B1}"/>
              </a:ext>
            </a:extLst>
          </p:cNvPr>
          <p:cNvSpPr/>
          <p:nvPr/>
        </p:nvSpPr>
        <p:spPr>
          <a:xfrm>
            <a:off x="5199785" y="1585299"/>
            <a:ext cx="1967960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EF11A7-604D-EB4D-2411-AA27F7EDCA82}"/>
              </a:ext>
            </a:extLst>
          </p:cNvPr>
          <p:cNvCxnSpPr>
            <a:cxnSpLocks/>
          </p:cNvCxnSpPr>
          <p:nvPr/>
        </p:nvCxnSpPr>
        <p:spPr>
          <a:xfrm>
            <a:off x="4256411" y="922492"/>
            <a:ext cx="1100516" cy="7444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AA62F1-90FA-F26E-10BF-463EFBD5CEAF}"/>
              </a:ext>
            </a:extLst>
          </p:cNvPr>
          <p:cNvCxnSpPr>
            <a:cxnSpLocks/>
          </p:cNvCxnSpPr>
          <p:nvPr/>
        </p:nvCxnSpPr>
        <p:spPr>
          <a:xfrm flipV="1">
            <a:off x="565667" y="5324560"/>
            <a:ext cx="243536" cy="3942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F0F0DB2-9E5F-A4E2-2BA0-F27FCB5738F6}"/>
              </a:ext>
            </a:extLst>
          </p:cNvPr>
          <p:cNvSpPr txBox="1"/>
          <p:nvPr/>
        </p:nvSpPr>
        <p:spPr>
          <a:xfrm>
            <a:off x="177912" y="5730528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89711D-A07B-3754-B95E-EA75E12450C3}"/>
              </a:ext>
            </a:extLst>
          </p:cNvPr>
          <p:cNvSpPr/>
          <p:nvPr/>
        </p:nvSpPr>
        <p:spPr>
          <a:xfrm>
            <a:off x="7764061" y="1620027"/>
            <a:ext cx="1801383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F9209F-53F4-49F1-EEDC-D81BFD03AF22}"/>
              </a:ext>
            </a:extLst>
          </p:cNvPr>
          <p:cNvCxnSpPr>
            <a:cxnSpLocks/>
          </p:cNvCxnSpPr>
          <p:nvPr/>
        </p:nvCxnSpPr>
        <p:spPr>
          <a:xfrm>
            <a:off x="4442527" y="849664"/>
            <a:ext cx="3382471" cy="8496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58C25C-0AB4-5977-27AD-FEE9218AD8DB}"/>
              </a:ext>
            </a:extLst>
          </p:cNvPr>
          <p:cNvCxnSpPr>
            <a:cxnSpLocks/>
          </p:cNvCxnSpPr>
          <p:nvPr/>
        </p:nvCxnSpPr>
        <p:spPr>
          <a:xfrm>
            <a:off x="3252998" y="1448474"/>
            <a:ext cx="96300" cy="1318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C4628F7-18F8-7BD0-FA2F-AA27C605264A}"/>
              </a:ext>
            </a:extLst>
          </p:cNvPr>
          <p:cNvSpPr txBox="1"/>
          <p:nvPr/>
        </p:nvSpPr>
        <p:spPr>
          <a:xfrm>
            <a:off x="2775905" y="1178869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D6AE0D-AE64-DE1F-30E6-92EF960DD1B2}"/>
              </a:ext>
            </a:extLst>
          </p:cNvPr>
          <p:cNvSpPr txBox="1"/>
          <p:nvPr/>
        </p:nvSpPr>
        <p:spPr>
          <a:xfrm>
            <a:off x="95757" y="87664"/>
            <a:ext cx="6153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V2</a:t>
            </a:r>
            <a:r>
              <a:rPr lang="en-US" sz="2400">
                <a:latin typeface="Avenir Book" panose="02000503020000020003" pitchFamily="2" charset="0"/>
              </a:rPr>
              <a:t> – removed any sequences with &gt;1 motif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733241-2803-F1B0-EC83-AA7D393A414D}"/>
              </a:ext>
            </a:extLst>
          </p:cNvPr>
          <p:cNvSpPr txBox="1"/>
          <p:nvPr/>
        </p:nvSpPr>
        <p:spPr>
          <a:xfrm>
            <a:off x="199718" y="541942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experiment 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DB0B4A-A623-C668-76C8-E45780211174}"/>
              </a:ext>
            </a:extLst>
          </p:cNvPr>
          <p:cNvSpPr/>
          <p:nvPr/>
        </p:nvSpPr>
        <p:spPr>
          <a:xfrm>
            <a:off x="10232131" y="1571475"/>
            <a:ext cx="1801383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46144A-9D0A-1DE3-3BEB-B7F2E12B6BD0}"/>
              </a:ext>
            </a:extLst>
          </p:cNvPr>
          <p:cNvCxnSpPr>
            <a:cxnSpLocks/>
          </p:cNvCxnSpPr>
          <p:nvPr/>
        </p:nvCxnSpPr>
        <p:spPr>
          <a:xfrm>
            <a:off x="4442527" y="760652"/>
            <a:ext cx="5826266" cy="9063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72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72B1-290A-8287-862B-58723D902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07D61-A375-1899-156F-C805BC961804}"/>
              </a:ext>
            </a:extLst>
          </p:cNvPr>
          <p:cNvSpPr txBox="1"/>
          <p:nvPr/>
        </p:nvSpPr>
        <p:spPr>
          <a:xfrm>
            <a:off x="1908372" y="2830863"/>
            <a:ext cx="88729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>
                <a:latin typeface="Avenir Black" panose="02000503020000020003" pitchFamily="2" charset="0"/>
              </a:rPr>
              <a:t>V3</a:t>
            </a:r>
            <a:r>
              <a:rPr lang="en-US" sz="3200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</p:spTree>
    <p:extLst>
      <p:ext uri="{BB962C8B-B14F-4D97-AF65-F5344CB8AC3E}">
        <p14:creationId xmlns:p14="http://schemas.microsoft.com/office/powerpoint/2010/main" val="4067837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80E7-1D2F-883E-D492-9097DDD7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C8E13F-EEA9-6D26-29F9-663E4B1CF047}"/>
              </a:ext>
            </a:extLst>
          </p:cNvPr>
          <p:cNvSpPr txBox="1"/>
          <p:nvPr/>
        </p:nvSpPr>
        <p:spPr>
          <a:xfrm>
            <a:off x="1554112" y="1566851"/>
            <a:ext cx="1780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>
                <a:latin typeface="Avenir Black" panose="02000503020000020003" pitchFamily="2" charset="0"/>
              </a:rPr>
              <a:t>screen binders</a:t>
            </a:r>
          </a:p>
          <a:p>
            <a:pPr algn="r"/>
            <a:r>
              <a:rPr lang="en-US">
                <a:latin typeface="Avenir Book" panose="02000503020000020003" pitchFamily="2" charset="0"/>
              </a:rPr>
              <a:t>(z-score &gt; 1.7)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3F9E6-CB94-1FAB-A781-346ECA0F0531}"/>
              </a:ext>
            </a:extLst>
          </p:cNvPr>
          <p:cNvSpPr txBox="1"/>
          <p:nvPr/>
        </p:nvSpPr>
        <p:spPr>
          <a:xfrm>
            <a:off x="364558" y="5066199"/>
            <a:ext cx="3119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>
                <a:latin typeface="Avenir Black" panose="02000503020000020003" pitchFamily="2" charset="0"/>
              </a:rPr>
              <a:t>screen nonbinders</a:t>
            </a:r>
          </a:p>
          <a:p>
            <a:pPr algn="r"/>
            <a:r>
              <a:rPr lang="en-US">
                <a:latin typeface="Avenir Book" panose="02000503020000020003" pitchFamily="2" charset="0"/>
              </a:rPr>
              <a:t>(dropped out after round 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9A923-90B2-462D-CC64-65BAA5F5D450}"/>
              </a:ext>
            </a:extLst>
          </p:cNvPr>
          <p:cNvSpPr txBox="1"/>
          <p:nvPr/>
        </p:nvSpPr>
        <p:spPr>
          <a:xfrm>
            <a:off x="111940" y="144308"/>
            <a:ext cx="6715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V3</a:t>
            </a:r>
            <a:r>
              <a:rPr lang="en-US" sz="2400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307613-85C2-A156-B182-A96FE1698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018" y="926145"/>
            <a:ext cx="5676900" cy="2578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75918B-0CED-62F6-1ABF-88C012F18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688" y="3975830"/>
            <a:ext cx="7112000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34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DC3A4-2DC1-2552-D2B0-96444D82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A6E637-06E4-3A0D-66B9-751B64B0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42" y="4025394"/>
            <a:ext cx="5575300" cy="2578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5C5773-1974-05B8-9B36-17ACE764F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61" y="1071800"/>
            <a:ext cx="5676900" cy="2578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9F001B-92D3-C6DF-7F98-3323EBBF490F}"/>
              </a:ext>
            </a:extLst>
          </p:cNvPr>
          <p:cNvSpPr txBox="1"/>
          <p:nvPr/>
        </p:nvSpPr>
        <p:spPr>
          <a:xfrm>
            <a:off x="971044" y="1027688"/>
            <a:ext cx="1684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 binders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11F2E-2465-3639-13F7-C0183C23230C}"/>
              </a:ext>
            </a:extLst>
          </p:cNvPr>
          <p:cNvSpPr txBox="1"/>
          <p:nvPr/>
        </p:nvSpPr>
        <p:spPr>
          <a:xfrm>
            <a:off x="954860" y="3957005"/>
            <a:ext cx="1684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 binders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9430C2-85C2-6C1B-E6A2-EB2A73A7C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545" y="1474212"/>
            <a:ext cx="3505200" cy="3683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3FE1B7-47EF-2ED9-5573-286A7FB2E66C}"/>
              </a:ext>
            </a:extLst>
          </p:cNvPr>
          <p:cNvSpPr txBox="1"/>
          <p:nvPr/>
        </p:nvSpPr>
        <p:spPr>
          <a:xfrm>
            <a:off x="111940" y="144308"/>
            <a:ext cx="6715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V3</a:t>
            </a:r>
            <a:r>
              <a:rPr lang="en-US" sz="2400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</p:spTree>
    <p:extLst>
      <p:ext uri="{BB962C8B-B14F-4D97-AF65-F5344CB8AC3E}">
        <p14:creationId xmlns:p14="http://schemas.microsoft.com/office/powerpoint/2010/main" val="2929184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1B56-68C8-C5A4-BAC6-CB83DC1D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B38DC-D9BC-4315-79FD-16213E8C34EE}"/>
              </a:ext>
            </a:extLst>
          </p:cNvPr>
          <p:cNvSpPr txBox="1"/>
          <p:nvPr/>
        </p:nvSpPr>
        <p:spPr>
          <a:xfrm>
            <a:off x="56645" y="3131617"/>
            <a:ext cx="1327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 binders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F6F91-7871-C3EC-958A-4C377D0D00A7}"/>
              </a:ext>
            </a:extLst>
          </p:cNvPr>
          <p:cNvSpPr txBox="1"/>
          <p:nvPr/>
        </p:nvSpPr>
        <p:spPr>
          <a:xfrm>
            <a:off x="111940" y="144308"/>
            <a:ext cx="6715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V3</a:t>
            </a:r>
            <a:r>
              <a:rPr lang="en-US" sz="2400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68288F-7FAB-31AE-3747-D0C673DB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067" y="1433752"/>
            <a:ext cx="3505200" cy="368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99DE57-DC69-9FE1-F53C-2F0B54D0E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20" y="681047"/>
            <a:ext cx="5531805" cy="592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45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75AF-85E6-8B89-FD65-16BEE5E78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DA9386-B025-7FD1-5C27-8FC1E9B41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781" y="3871646"/>
            <a:ext cx="5676900" cy="25781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605E47-B3FC-1F20-E355-5CC6A3B67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940" y="861742"/>
            <a:ext cx="5477633" cy="24551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5DF05B-34AB-3DD1-F9F8-2B397421107D}"/>
              </a:ext>
            </a:extLst>
          </p:cNvPr>
          <p:cNvGrpSpPr/>
          <p:nvPr/>
        </p:nvGrpSpPr>
        <p:grpSpPr>
          <a:xfrm>
            <a:off x="485522" y="752914"/>
            <a:ext cx="3908453" cy="2898301"/>
            <a:chOff x="242761" y="202302"/>
            <a:chExt cx="4345423" cy="32223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06375B-020E-1653-AA76-09B3546F8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0034"/>
            <a:stretch>
              <a:fillRect/>
            </a:stretch>
          </p:blipFill>
          <p:spPr>
            <a:xfrm>
              <a:off x="267710" y="250854"/>
              <a:ext cx="4304289" cy="317378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E9C772-50C1-9721-1039-4DAFE95DEA37}"/>
                </a:ext>
              </a:extLst>
            </p:cNvPr>
            <p:cNvSpPr/>
            <p:nvPr/>
          </p:nvSpPr>
          <p:spPr>
            <a:xfrm>
              <a:off x="242761" y="202302"/>
              <a:ext cx="4345423" cy="31558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1A05A2-91C3-94DC-5526-46D9D2D2292D}"/>
              </a:ext>
            </a:extLst>
          </p:cNvPr>
          <p:cNvGrpSpPr/>
          <p:nvPr/>
        </p:nvGrpSpPr>
        <p:grpSpPr>
          <a:xfrm>
            <a:off x="485522" y="3710988"/>
            <a:ext cx="3819441" cy="2827378"/>
            <a:chOff x="242761" y="3479576"/>
            <a:chExt cx="4361607" cy="32287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B56548-5977-C86E-FDA5-B41A9D5FB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0486"/>
            <a:stretch>
              <a:fillRect/>
            </a:stretch>
          </p:blipFill>
          <p:spPr>
            <a:xfrm>
              <a:off x="242761" y="3486935"/>
              <a:ext cx="4313055" cy="320922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C47B93-0046-9CAE-0E04-C77626E3B54E}"/>
                </a:ext>
              </a:extLst>
            </p:cNvPr>
            <p:cNvSpPr/>
            <p:nvPr/>
          </p:nvSpPr>
          <p:spPr>
            <a:xfrm>
              <a:off x="258945" y="3479576"/>
              <a:ext cx="4345423" cy="32287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10CB960-6C35-2B6E-8C8B-38B50A06845C}"/>
              </a:ext>
            </a:extLst>
          </p:cNvPr>
          <p:cNvSpPr txBox="1"/>
          <p:nvPr/>
        </p:nvSpPr>
        <p:spPr>
          <a:xfrm>
            <a:off x="6481721" y="3835625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3E21FF-EBFB-F08E-A48F-97D92C529ADD}"/>
              </a:ext>
            </a:extLst>
          </p:cNvPr>
          <p:cNvSpPr txBox="1"/>
          <p:nvPr/>
        </p:nvSpPr>
        <p:spPr>
          <a:xfrm>
            <a:off x="111940" y="144308"/>
            <a:ext cx="6715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V3</a:t>
            </a:r>
            <a:r>
              <a:rPr lang="en-US" sz="2400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</p:spTree>
    <p:extLst>
      <p:ext uri="{BB962C8B-B14F-4D97-AF65-F5344CB8AC3E}">
        <p14:creationId xmlns:p14="http://schemas.microsoft.com/office/powerpoint/2010/main" val="1658899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2EAE-BCC1-C5A8-8427-60CAF3D3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1A480C-ACF3-53D2-D7F9-6CC21405D374}"/>
              </a:ext>
            </a:extLst>
          </p:cNvPr>
          <p:cNvSpPr txBox="1"/>
          <p:nvPr/>
        </p:nvSpPr>
        <p:spPr>
          <a:xfrm>
            <a:off x="728105" y="3167798"/>
            <a:ext cx="169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E1D6B9-5BBE-5D26-8960-9CEF23A31E45}"/>
              </a:ext>
            </a:extLst>
          </p:cNvPr>
          <p:cNvCxnSpPr/>
          <p:nvPr/>
        </p:nvCxnSpPr>
        <p:spPr>
          <a:xfrm flipV="1">
            <a:off x="2158698" y="2253398"/>
            <a:ext cx="870155" cy="766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FDB777-4593-E2CC-130B-65F4C0A239F4}"/>
              </a:ext>
            </a:extLst>
          </p:cNvPr>
          <p:cNvCxnSpPr>
            <a:cxnSpLocks/>
          </p:cNvCxnSpPr>
          <p:nvPr/>
        </p:nvCxnSpPr>
        <p:spPr>
          <a:xfrm>
            <a:off x="2129201" y="3639746"/>
            <a:ext cx="899652" cy="899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945431-60C5-8B0B-D2EF-64C79A450CF4}"/>
              </a:ext>
            </a:extLst>
          </p:cNvPr>
          <p:cNvSpPr txBox="1"/>
          <p:nvPr/>
        </p:nvSpPr>
        <p:spPr>
          <a:xfrm>
            <a:off x="2969860" y="4790122"/>
            <a:ext cx="1601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[FWY]xx[FWY]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sequences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ACD39-3741-1CE0-EEDC-F2FEEBE41452}"/>
              </a:ext>
            </a:extLst>
          </p:cNvPr>
          <p:cNvSpPr txBox="1"/>
          <p:nvPr/>
        </p:nvSpPr>
        <p:spPr>
          <a:xfrm>
            <a:off x="3102595" y="1707709"/>
            <a:ext cx="1418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venir Book" panose="02000503020000020003" pitchFamily="2" charset="0"/>
              </a:rPr>
              <a:t>[FWY]xx[LVI]</a:t>
            </a:r>
          </a:p>
          <a:p>
            <a:pPr algn="ctr"/>
            <a:r>
              <a:rPr lang="en-US">
                <a:latin typeface="Avenir Book" panose="02000503020000020003" pitchFamily="2" charset="0"/>
              </a:rPr>
              <a:t>sequences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961D7B-1427-E514-7948-265976DB5526}"/>
              </a:ext>
            </a:extLst>
          </p:cNvPr>
          <p:cNvCxnSpPr>
            <a:cxnSpLocks/>
          </p:cNvCxnSpPr>
          <p:nvPr/>
        </p:nvCxnSpPr>
        <p:spPr>
          <a:xfrm>
            <a:off x="4695419" y="5188327"/>
            <a:ext cx="1297860" cy="63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E69F79-3585-CA00-DC2E-A56AFBDB78DB}"/>
              </a:ext>
            </a:extLst>
          </p:cNvPr>
          <p:cNvSpPr txBox="1"/>
          <p:nvPr/>
        </p:nvSpPr>
        <p:spPr>
          <a:xfrm>
            <a:off x="3515551" y="5483295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(66)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C9D5BD-6EC8-A3D1-B7F8-C78AE94F11C7}"/>
              </a:ext>
            </a:extLst>
          </p:cNvPr>
          <p:cNvSpPr txBox="1"/>
          <p:nvPr/>
        </p:nvSpPr>
        <p:spPr>
          <a:xfrm>
            <a:off x="3427059" y="2430380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(212)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FBD929-D0EA-B628-09F3-8C87FD949F88}"/>
              </a:ext>
            </a:extLst>
          </p:cNvPr>
          <p:cNvCxnSpPr>
            <a:cxnSpLocks/>
          </p:cNvCxnSpPr>
          <p:nvPr/>
        </p:nvCxnSpPr>
        <p:spPr>
          <a:xfrm flipV="1">
            <a:off x="4695419" y="4347669"/>
            <a:ext cx="1209370" cy="6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819D8D-7A18-6D36-3840-9909E2295598}"/>
              </a:ext>
            </a:extLst>
          </p:cNvPr>
          <p:cNvSpPr txBox="1"/>
          <p:nvPr/>
        </p:nvSpPr>
        <p:spPr>
          <a:xfrm>
            <a:off x="5919536" y="4126444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“train”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8DC11F-EDFC-014A-BF5B-83FB5901818E}"/>
              </a:ext>
            </a:extLst>
          </p:cNvPr>
          <p:cNvSpPr txBox="1"/>
          <p:nvPr/>
        </p:nvSpPr>
        <p:spPr>
          <a:xfrm>
            <a:off x="5543452" y="5869211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[FWY]xx[FWY] test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7CE9C5-B626-8503-03C9-BA7EFD0DC514}"/>
              </a:ext>
            </a:extLst>
          </p:cNvPr>
          <p:cNvCxnSpPr>
            <a:cxnSpLocks/>
          </p:cNvCxnSpPr>
          <p:nvPr/>
        </p:nvCxnSpPr>
        <p:spPr>
          <a:xfrm flipV="1">
            <a:off x="4739664" y="1221011"/>
            <a:ext cx="1209370" cy="61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E3AC61-7B59-2147-07AA-2597DF9D0357}"/>
              </a:ext>
            </a:extLst>
          </p:cNvPr>
          <p:cNvCxnSpPr>
            <a:cxnSpLocks/>
          </p:cNvCxnSpPr>
          <p:nvPr/>
        </p:nvCxnSpPr>
        <p:spPr>
          <a:xfrm>
            <a:off x="4754412" y="2076418"/>
            <a:ext cx="1194622" cy="339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A822A24-FFE6-520B-8E8A-B53055D302EA}"/>
              </a:ext>
            </a:extLst>
          </p:cNvPr>
          <p:cNvSpPr txBox="1"/>
          <p:nvPr/>
        </p:nvSpPr>
        <p:spPr>
          <a:xfrm>
            <a:off x="5998193" y="2332056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“train”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C94F39-1A69-2C40-2DA9-448083FAD8AD}"/>
              </a:ext>
            </a:extLst>
          </p:cNvPr>
          <p:cNvSpPr txBox="1"/>
          <p:nvPr/>
        </p:nvSpPr>
        <p:spPr>
          <a:xfrm>
            <a:off x="5588861" y="524384"/>
            <a:ext cx="2488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[FWY]xx[LVI] test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A87405-2D6E-36C0-E8D3-9E4F2045EC53}"/>
              </a:ext>
            </a:extLst>
          </p:cNvPr>
          <p:cNvCxnSpPr>
            <a:cxnSpLocks/>
          </p:cNvCxnSpPr>
          <p:nvPr/>
        </p:nvCxnSpPr>
        <p:spPr>
          <a:xfrm>
            <a:off x="6879771" y="2989943"/>
            <a:ext cx="337624" cy="26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FA9849-140A-236A-5DC9-6BF725AABC5A}"/>
              </a:ext>
            </a:extLst>
          </p:cNvPr>
          <p:cNvCxnSpPr>
            <a:cxnSpLocks/>
          </p:cNvCxnSpPr>
          <p:nvPr/>
        </p:nvCxnSpPr>
        <p:spPr>
          <a:xfrm flipV="1">
            <a:off x="6730698" y="3536508"/>
            <a:ext cx="442451" cy="516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FC68623-16B2-ABC2-F7D6-9D3B3846A06B}"/>
              </a:ext>
            </a:extLst>
          </p:cNvPr>
          <p:cNvSpPr txBox="1"/>
          <p:nvPr/>
        </p:nvSpPr>
        <p:spPr>
          <a:xfrm>
            <a:off x="7409124" y="3212044"/>
            <a:ext cx="1283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recombine</a:t>
            </a:r>
          </a:p>
        </p:txBody>
      </p:sp>
      <p:sp>
        <p:nvSpPr>
          <p:cNvPr id="33" name="5-Point Star 32">
            <a:extLst>
              <a:ext uri="{FF2B5EF4-FFF2-40B4-BE49-F238E27FC236}">
                <a16:creationId xmlns:a16="http://schemas.microsoft.com/office/drawing/2014/main" id="{D5DBCC17-F04D-9CA0-5D57-E031CB7EBDD6}"/>
              </a:ext>
            </a:extLst>
          </p:cNvPr>
          <p:cNvSpPr/>
          <p:nvPr/>
        </p:nvSpPr>
        <p:spPr>
          <a:xfrm>
            <a:off x="6492620" y="248160"/>
            <a:ext cx="294968" cy="2507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269F9847-C46C-A820-0D10-C2C67DF5C575}"/>
              </a:ext>
            </a:extLst>
          </p:cNvPr>
          <p:cNvSpPr/>
          <p:nvPr/>
        </p:nvSpPr>
        <p:spPr>
          <a:xfrm>
            <a:off x="6350108" y="5533889"/>
            <a:ext cx="294968" cy="2507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00C837-BAA0-A18D-EC8F-085F7E911AD9}"/>
              </a:ext>
            </a:extLst>
          </p:cNvPr>
          <p:cNvCxnSpPr>
            <a:cxnSpLocks/>
          </p:cNvCxnSpPr>
          <p:nvPr/>
        </p:nvCxnSpPr>
        <p:spPr>
          <a:xfrm>
            <a:off x="8682055" y="3409174"/>
            <a:ext cx="515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9E0DB62-05A4-2E06-B2B0-C4DEC0EECC5D}"/>
              </a:ext>
            </a:extLst>
          </p:cNvPr>
          <p:cNvSpPr txBox="1"/>
          <p:nvPr/>
        </p:nvSpPr>
        <p:spPr>
          <a:xfrm>
            <a:off x="9351756" y="3125839"/>
            <a:ext cx="2345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PSSMs from different</a:t>
            </a:r>
          </a:p>
          <a:p>
            <a:pPr algn="l"/>
            <a:r>
              <a:rPr lang="en-US">
                <a:latin typeface="Avenir Book" panose="02000503020000020003" pitchFamily="2" charset="0"/>
              </a:rPr>
              <a:t>z-score ranges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C4CAEB6-EDC4-580D-5773-911B64A93CDB}"/>
              </a:ext>
            </a:extLst>
          </p:cNvPr>
          <p:cNvCxnSpPr/>
          <p:nvPr/>
        </p:nvCxnSpPr>
        <p:spPr>
          <a:xfrm flipV="1">
            <a:off x="6917650" y="2005376"/>
            <a:ext cx="643943" cy="30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56C57B5-A1B2-33E9-588C-F58EE6C0420F}"/>
              </a:ext>
            </a:extLst>
          </p:cNvPr>
          <p:cNvSpPr txBox="1"/>
          <p:nvPr/>
        </p:nvSpPr>
        <p:spPr>
          <a:xfrm>
            <a:off x="7615475" y="1799313"/>
            <a:ext cx="214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[FWY]xx[LVI] PSSM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95F5BD-5D20-6323-3142-5FF8CED0934A}"/>
              </a:ext>
            </a:extLst>
          </p:cNvPr>
          <p:cNvSpPr txBox="1"/>
          <p:nvPr/>
        </p:nvSpPr>
        <p:spPr>
          <a:xfrm>
            <a:off x="7316193" y="4956477"/>
            <a:ext cx="257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venir Book" panose="02000503020000020003" pitchFamily="2" charset="0"/>
              </a:rPr>
              <a:t>[FWY]xx[FWY] PSSM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4C5991-E5CE-B1C4-8629-3D0D4B7DB839}"/>
              </a:ext>
            </a:extLst>
          </p:cNvPr>
          <p:cNvCxnSpPr>
            <a:cxnSpLocks/>
          </p:cNvCxnSpPr>
          <p:nvPr/>
        </p:nvCxnSpPr>
        <p:spPr>
          <a:xfrm>
            <a:off x="6860003" y="4536177"/>
            <a:ext cx="502275" cy="386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5-Point Star 45">
            <a:extLst>
              <a:ext uri="{FF2B5EF4-FFF2-40B4-BE49-F238E27FC236}">
                <a16:creationId xmlns:a16="http://schemas.microsoft.com/office/drawing/2014/main" id="{23D5B480-8B45-CE77-8B5B-7333593F95D5}"/>
              </a:ext>
            </a:extLst>
          </p:cNvPr>
          <p:cNvSpPr/>
          <p:nvPr/>
        </p:nvSpPr>
        <p:spPr>
          <a:xfrm>
            <a:off x="9028914" y="4580852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5-Point Star 46">
            <a:extLst>
              <a:ext uri="{FF2B5EF4-FFF2-40B4-BE49-F238E27FC236}">
                <a16:creationId xmlns:a16="http://schemas.microsoft.com/office/drawing/2014/main" id="{377745F4-0B5C-B08C-DE01-6D947E44A34F}"/>
              </a:ext>
            </a:extLst>
          </p:cNvPr>
          <p:cNvSpPr/>
          <p:nvPr/>
        </p:nvSpPr>
        <p:spPr>
          <a:xfrm>
            <a:off x="9196339" y="1567196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B8C5CA72-BD4B-83E3-23D5-6D17747C989B}"/>
              </a:ext>
            </a:extLst>
          </p:cNvPr>
          <p:cNvSpPr/>
          <p:nvPr/>
        </p:nvSpPr>
        <p:spPr>
          <a:xfrm>
            <a:off x="11025139" y="2855084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0A10D6-7757-3972-271F-A432063A5A47}"/>
              </a:ext>
            </a:extLst>
          </p:cNvPr>
          <p:cNvSpPr txBox="1"/>
          <p:nvPr/>
        </p:nvSpPr>
        <p:spPr>
          <a:xfrm>
            <a:off x="5223329" y="6230257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 and nonbinders)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68DA8-63C7-8633-E283-31E1663158AC}"/>
              </a:ext>
            </a:extLst>
          </p:cNvPr>
          <p:cNvSpPr txBox="1"/>
          <p:nvPr/>
        </p:nvSpPr>
        <p:spPr>
          <a:xfrm>
            <a:off x="5849256" y="4397829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E665D-18E4-16DE-7E92-F5DD4316B086}"/>
              </a:ext>
            </a:extLst>
          </p:cNvPr>
          <p:cNvSpPr txBox="1"/>
          <p:nvPr/>
        </p:nvSpPr>
        <p:spPr>
          <a:xfrm>
            <a:off x="5972628" y="260531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734E1-1B34-52BF-1614-F8F6C762E16F}"/>
              </a:ext>
            </a:extLst>
          </p:cNvPr>
          <p:cNvSpPr txBox="1"/>
          <p:nvPr/>
        </p:nvSpPr>
        <p:spPr>
          <a:xfrm>
            <a:off x="5136244" y="869043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(binders and nonbinders)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1547A0-730F-2A90-382B-00A2402F38FD}"/>
              </a:ext>
            </a:extLst>
          </p:cNvPr>
          <p:cNvCxnSpPr>
            <a:cxnSpLocks/>
          </p:cNvCxnSpPr>
          <p:nvPr/>
        </p:nvCxnSpPr>
        <p:spPr>
          <a:xfrm>
            <a:off x="1304890" y="3657600"/>
            <a:ext cx="0" cy="142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35EE5A-BED6-6665-8680-8A11A01D1428}"/>
              </a:ext>
            </a:extLst>
          </p:cNvPr>
          <p:cNvSpPr txBox="1"/>
          <p:nvPr/>
        </p:nvSpPr>
        <p:spPr>
          <a:xfrm>
            <a:off x="224971" y="5121310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all binders (PSSM)</a:t>
            </a:r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CD5DDEDB-E533-EBBF-74FF-AA17EE272814}"/>
              </a:ext>
            </a:extLst>
          </p:cNvPr>
          <p:cNvSpPr/>
          <p:nvPr/>
        </p:nvSpPr>
        <p:spPr>
          <a:xfrm>
            <a:off x="1515270" y="48312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03F165-5878-F34F-8B4B-DA166D82B70F}"/>
              </a:ext>
            </a:extLst>
          </p:cNvPr>
          <p:cNvGrpSpPr/>
          <p:nvPr/>
        </p:nvGrpSpPr>
        <p:grpSpPr>
          <a:xfrm>
            <a:off x="122393" y="1485563"/>
            <a:ext cx="2235200" cy="850900"/>
            <a:chOff x="114300" y="165100"/>
            <a:chExt cx="2235200" cy="850900"/>
          </a:xfrm>
        </p:grpSpPr>
        <p:sp>
          <p:nvSpPr>
            <p:cNvPr id="23" name="5-Point Star 22">
              <a:extLst>
                <a:ext uri="{FF2B5EF4-FFF2-40B4-BE49-F238E27FC236}">
                  <a16:creationId xmlns:a16="http://schemas.microsoft.com/office/drawing/2014/main" id="{95A1CE76-C92A-BDD6-C837-CAE36854117A}"/>
                </a:ext>
              </a:extLst>
            </p:cNvPr>
            <p:cNvSpPr/>
            <p:nvPr/>
          </p:nvSpPr>
          <p:spPr>
            <a:xfrm>
              <a:off x="340520" y="246555"/>
              <a:ext cx="294968" cy="250723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18E56B0-FC55-A4CB-435C-970EBB42B69F}"/>
                </a:ext>
              </a:extLst>
            </p:cNvPr>
            <p:cNvSpPr/>
            <p:nvPr/>
          </p:nvSpPr>
          <p:spPr>
            <a:xfrm>
              <a:off x="114300" y="165100"/>
              <a:ext cx="2235200" cy="8509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D3D47D-33EF-AE4E-8AF9-824B2AC72B4B}"/>
                </a:ext>
              </a:extLst>
            </p:cNvPr>
            <p:cNvSpPr txBox="1"/>
            <p:nvPr/>
          </p:nvSpPr>
          <p:spPr>
            <a:xfrm>
              <a:off x="685800" y="228600"/>
              <a:ext cx="1553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training set</a:t>
              </a:r>
            </a:p>
          </p:txBody>
        </p:sp>
        <p:sp>
          <p:nvSpPr>
            <p:cNvPr id="30" name="5-Point Star 29">
              <a:extLst>
                <a:ext uri="{FF2B5EF4-FFF2-40B4-BE49-F238E27FC236}">
                  <a16:creationId xmlns:a16="http://schemas.microsoft.com/office/drawing/2014/main" id="{C7594E50-27D2-144B-A268-24C16873500E}"/>
                </a:ext>
              </a:extLst>
            </p:cNvPr>
            <p:cNvSpPr/>
            <p:nvPr/>
          </p:nvSpPr>
          <p:spPr>
            <a:xfrm>
              <a:off x="349128" y="631173"/>
              <a:ext cx="294968" cy="250723"/>
            </a:xfrm>
            <a:prstGeom prst="star5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91E1BA-2338-9987-9A31-1AA4E4C86DF2}"/>
                </a:ext>
              </a:extLst>
            </p:cNvPr>
            <p:cNvSpPr txBox="1"/>
            <p:nvPr/>
          </p:nvSpPr>
          <p:spPr>
            <a:xfrm>
              <a:off x="685800" y="571500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test set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2BB0819-6E31-6853-2A9E-6ED6BE2B5BD6}"/>
              </a:ext>
            </a:extLst>
          </p:cNvPr>
          <p:cNvSpPr txBox="1"/>
          <p:nvPr/>
        </p:nvSpPr>
        <p:spPr>
          <a:xfrm>
            <a:off x="11226800" y="119380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</a:t>
            </a:r>
          </a:p>
        </p:txBody>
      </p:sp>
      <p:sp>
        <p:nvSpPr>
          <p:cNvPr id="37" name="5-Point Star 36">
            <a:extLst>
              <a:ext uri="{FF2B5EF4-FFF2-40B4-BE49-F238E27FC236}">
                <a16:creationId xmlns:a16="http://schemas.microsoft.com/office/drawing/2014/main" id="{D311B384-E595-7FA0-837F-CBDA5916B151}"/>
              </a:ext>
            </a:extLst>
          </p:cNvPr>
          <p:cNvSpPr/>
          <p:nvPr/>
        </p:nvSpPr>
        <p:spPr>
          <a:xfrm>
            <a:off x="11554620" y="9704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EF1EFC-238E-8153-0118-22A8BCA2974C}"/>
              </a:ext>
            </a:extLst>
          </p:cNvPr>
          <p:cNvSpPr txBox="1"/>
          <p:nvPr/>
        </p:nvSpPr>
        <p:spPr>
          <a:xfrm>
            <a:off x="10257204" y="555869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lir central</a:t>
            </a:r>
          </a:p>
        </p:txBody>
      </p:sp>
      <p:sp>
        <p:nvSpPr>
          <p:cNvPr id="40" name="5-Point Star 39">
            <a:extLst>
              <a:ext uri="{FF2B5EF4-FFF2-40B4-BE49-F238E27FC236}">
                <a16:creationId xmlns:a16="http://schemas.microsoft.com/office/drawing/2014/main" id="{88AFE0FA-CCA0-D3BE-9886-E42364F9C243}"/>
              </a:ext>
            </a:extLst>
          </p:cNvPr>
          <p:cNvSpPr/>
          <p:nvPr/>
        </p:nvSpPr>
        <p:spPr>
          <a:xfrm>
            <a:off x="11156828" y="351773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25C76C-A99A-658F-7E85-8DB8D7F9AE9A}"/>
              </a:ext>
            </a:extLst>
          </p:cNvPr>
          <p:cNvSpPr txBox="1"/>
          <p:nvPr/>
        </p:nvSpPr>
        <p:spPr>
          <a:xfrm>
            <a:off x="2416934" y="80695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experiment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44C7FE-5245-C60D-5AE3-CBD97DC2642D}"/>
              </a:ext>
            </a:extLst>
          </p:cNvPr>
          <p:cNvSpPr txBox="1"/>
          <p:nvPr/>
        </p:nvSpPr>
        <p:spPr>
          <a:xfrm>
            <a:off x="111940" y="144308"/>
            <a:ext cx="2161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>
                <a:latin typeface="Avenir Black" panose="02000503020000020003" pitchFamily="2" charset="0"/>
              </a:rPr>
              <a:t>V3</a:t>
            </a:r>
            <a:r>
              <a:rPr lang="en-US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</p:spTree>
    <p:extLst>
      <p:ext uri="{BB962C8B-B14F-4D97-AF65-F5344CB8AC3E}">
        <p14:creationId xmlns:p14="http://schemas.microsoft.com/office/powerpoint/2010/main" val="1866380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86FEA-70DC-E59A-A996-9B116278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854D54-98B5-1B58-7D4B-71AD6279F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32" y="1863851"/>
            <a:ext cx="12064668" cy="396241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2B67C19-DCB7-8481-DD8D-DDB5974E90E8}"/>
              </a:ext>
            </a:extLst>
          </p:cNvPr>
          <p:cNvSpPr/>
          <p:nvPr/>
        </p:nvSpPr>
        <p:spPr>
          <a:xfrm>
            <a:off x="1258496" y="1743318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AD7E47-FD9D-08FB-563D-EAC81779E666}"/>
              </a:ext>
            </a:extLst>
          </p:cNvPr>
          <p:cNvCxnSpPr>
            <a:cxnSpLocks/>
          </p:cNvCxnSpPr>
          <p:nvPr/>
        </p:nvCxnSpPr>
        <p:spPr>
          <a:xfrm flipV="1">
            <a:off x="637130" y="4572000"/>
            <a:ext cx="89013" cy="14322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701530-D430-CC3B-EACF-E61AFE201C74}"/>
              </a:ext>
            </a:extLst>
          </p:cNvPr>
          <p:cNvCxnSpPr>
            <a:cxnSpLocks/>
          </p:cNvCxnSpPr>
          <p:nvPr/>
        </p:nvCxnSpPr>
        <p:spPr>
          <a:xfrm>
            <a:off x="4351374" y="1488934"/>
            <a:ext cx="105197" cy="2184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0CD38C-4CDD-32EC-587D-C271A6993F7D}"/>
              </a:ext>
            </a:extLst>
          </p:cNvPr>
          <p:cNvCxnSpPr>
            <a:cxnSpLocks/>
          </p:cNvCxnSpPr>
          <p:nvPr/>
        </p:nvCxnSpPr>
        <p:spPr>
          <a:xfrm>
            <a:off x="4747884" y="1391829"/>
            <a:ext cx="2403335" cy="5017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0814AC-1E66-9716-E82F-B3F4248A6016}"/>
              </a:ext>
            </a:extLst>
          </p:cNvPr>
          <p:cNvSpPr/>
          <p:nvPr/>
        </p:nvSpPr>
        <p:spPr>
          <a:xfrm>
            <a:off x="4194613" y="1723948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DED62A-2597-32B2-CBEF-5F6B7F4E0262}"/>
              </a:ext>
            </a:extLst>
          </p:cNvPr>
          <p:cNvSpPr/>
          <p:nvPr/>
        </p:nvSpPr>
        <p:spPr>
          <a:xfrm>
            <a:off x="9852925" y="1743317"/>
            <a:ext cx="1514244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38660-8BD7-A740-5453-6FD36532414E}"/>
              </a:ext>
            </a:extLst>
          </p:cNvPr>
          <p:cNvSpPr txBox="1"/>
          <p:nvPr/>
        </p:nvSpPr>
        <p:spPr>
          <a:xfrm>
            <a:off x="3660367" y="1099483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test sets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5F33E-BF14-EF4A-0A50-4B1B6C31C053}"/>
              </a:ext>
            </a:extLst>
          </p:cNvPr>
          <p:cNvSpPr txBox="1"/>
          <p:nvPr/>
        </p:nvSpPr>
        <p:spPr>
          <a:xfrm>
            <a:off x="305357" y="6034765"/>
            <a:ext cx="1302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 </a:t>
            </a:r>
          </a:p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(z-score &gt;= 1.7)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5D2854-E462-77C4-363F-B71509E30CC8}"/>
              </a:ext>
            </a:extLst>
          </p:cNvPr>
          <p:cNvCxnSpPr>
            <a:cxnSpLocks/>
          </p:cNvCxnSpPr>
          <p:nvPr/>
        </p:nvCxnSpPr>
        <p:spPr>
          <a:xfrm flipH="1">
            <a:off x="2425555" y="1432290"/>
            <a:ext cx="1148984" cy="388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375867B-C8B1-ACEF-F2E4-F9D7EEA4B362}"/>
              </a:ext>
            </a:extLst>
          </p:cNvPr>
          <p:cNvSpPr txBox="1"/>
          <p:nvPr/>
        </p:nvSpPr>
        <p:spPr>
          <a:xfrm>
            <a:off x="2300646" y="5843999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z-score &gt;= 1.7</a:t>
            </a:r>
          </a:p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matching the motif shown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75559F-1F32-D75A-C3E3-C188D592AB06}"/>
              </a:ext>
            </a:extLst>
          </p:cNvPr>
          <p:cNvCxnSpPr>
            <a:cxnSpLocks/>
          </p:cNvCxnSpPr>
          <p:nvPr/>
        </p:nvCxnSpPr>
        <p:spPr>
          <a:xfrm flipH="1" flipV="1">
            <a:off x="2150340" y="5510675"/>
            <a:ext cx="307498" cy="299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52A27A-2C22-8D5A-3E70-6CB9CA255F8B}"/>
              </a:ext>
            </a:extLst>
          </p:cNvPr>
          <p:cNvCxnSpPr>
            <a:cxnSpLocks/>
          </p:cNvCxnSpPr>
          <p:nvPr/>
        </p:nvCxnSpPr>
        <p:spPr>
          <a:xfrm flipH="1" flipV="1">
            <a:off x="2579217" y="5470215"/>
            <a:ext cx="222704" cy="3202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1230F1-7BAD-1F37-4630-6B687FC4E3BA}"/>
              </a:ext>
            </a:extLst>
          </p:cNvPr>
          <p:cNvCxnSpPr>
            <a:cxnSpLocks/>
          </p:cNvCxnSpPr>
          <p:nvPr/>
        </p:nvCxnSpPr>
        <p:spPr>
          <a:xfrm>
            <a:off x="7892091" y="1577946"/>
            <a:ext cx="0" cy="1836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55B6360-1580-BBB4-A77E-D3D30734F36D}"/>
              </a:ext>
            </a:extLst>
          </p:cNvPr>
          <p:cNvSpPr txBox="1"/>
          <p:nvPr/>
        </p:nvSpPr>
        <p:spPr>
          <a:xfrm>
            <a:off x="6742795" y="1071407"/>
            <a:ext cx="240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binders (z-score &gt;= 1.7)</a:t>
            </a:r>
          </a:p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matching motif [FWY]xx[LVI]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3124D7-D715-808D-8D2A-DF36A20705D4}"/>
              </a:ext>
            </a:extLst>
          </p:cNvPr>
          <p:cNvSpPr txBox="1"/>
          <p:nvPr/>
        </p:nvSpPr>
        <p:spPr>
          <a:xfrm>
            <a:off x="9623785" y="887539"/>
            <a:ext cx="2542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binders (z-score &gt;= 1.7)</a:t>
            </a:r>
          </a:p>
          <a:p>
            <a:r>
              <a:rPr lang="en-US" sz="1400">
                <a:solidFill>
                  <a:srgbClr val="FF0000"/>
                </a:solidFill>
                <a:latin typeface="Avenir Book" panose="02000503020000020003" pitchFamily="2" charset="0"/>
              </a:rPr>
              <a:t>matching motif [FWY]xx[FWY]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99CBE6D-71AC-B8B9-68AF-605539425CD5}"/>
              </a:ext>
            </a:extLst>
          </p:cNvPr>
          <p:cNvCxnSpPr>
            <a:cxnSpLocks/>
          </p:cNvCxnSpPr>
          <p:nvPr/>
        </p:nvCxnSpPr>
        <p:spPr>
          <a:xfrm flipH="1">
            <a:off x="10820788" y="1407114"/>
            <a:ext cx="134586" cy="325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486CDE-E113-6C28-EBA9-72F8FA49D9B0}"/>
              </a:ext>
            </a:extLst>
          </p:cNvPr>
          <p:cNvSpPr txBox="1"/>
          <p:nvPr/>
        </p:nvSpPr>
        <p:spPr>
          <a:xfrm>
            <a:off x="62152" y="501481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experiment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63D2E-08D6-E866-174C-327B41AEC885}"/>
              </a:ext>
            </a:extLst>
          </p:cNvPr>
          <p:cNvSpPr txBox="1"/>
          <p:nvPr/>
        </p:nvSpPr>
        <p:spPr>
          <a:xfrm>
            <a:off x="0" y="87663"/>
            <a:ext cx="6715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V3</a:t>
            </a:r>
            <a:r>
              <a:rPr lang="en-US" sz="2400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790542-B5F0-B418-14F1-662503A5BBD3}"/>
              </a:ext>
            </a:extLst>
          </p:cNvPr>
          <p:cNvSpPr/>
          <p:nvPr/>
        </p:nvSpPr>
        <p:spPr>
          <a:xfrm>
            <a:off x="7156298" y="1756316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04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405F-81C3-198D-1348-DAF62B44C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573F41-D33C-1174-8404-406C813AFD41}"/>
              </a:ext>
            </a:extLst>
          </p:cNvPr>
          <p:cNvSpPr txBox="1"/>
          <p:nvPr/>
        </p:nvSpPr>
        <p:spPr>
          <a:xfrm>
            <a:off x="1696026" y="3728412"/>
            <a:ext cx="169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33C6DE9-F3BF-56A8-1F9B-A1F14C4D8363}"/>
              </a:ext>
            </a:extLst>
          </p:cNvPr>
          <p:cNvCxnSpPr>
            <a:cxnSpLocks/>
          </p:cNvCxnSpPr>
          <p:nvPr/>
        </p:nvCxnSpPr>
        <p:spPr>
          <a:xfrm>
            <a:off x="3460447" y="3972813"/>
            <a:ext cx="10925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4305E2E-526A-8015-B3A5-2FABEC1CDB51}"/>
              </a:ext>
            </a:extLst>
          </p:cNvPr>
          <p:cNvSpPr txBox="1"/>
          <p:nvPr/>
        </p:nvSpPr>
        <p:spPr>
          <a:xfrm>
            <a:off x="4775221" y="3657425"/>
            <a:ext cx="2422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binders from different</a:t>
            </a:r>
          </a:p>
          <a:p>
            <a:pPr algn="l"/>
            <a:r>
              <a:rPr lang="en-US">
                <a:latin typeface="Avenir Book" panose="02000503020000020003" pitchFamily="2" charset="0"/>
              </a:rPr>
              <a:t>z-score ranges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432640-C709-B1CD-FD66-A9F6BDB1DF85}"/>
              </a:ext>
            </a:extLst>
          </p:cNvPr>
          <p:cNvCxnSpPr>
            <a:cxnSpLocks/>
          </p:cNvCxnSpPr>
          <p:nvPr/>
        </p:nvCxnSpPr>
        <p:spPr>
          <a:xfrm>
            <a:off x="7234161" y="4030870"/>
            <a:ext cx="1048960" cy="637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9B44CB-84A4-158A-2554-D68270384CDF}"/>
              </a:ext>
            </a:extLst>
          </p:cNvPr>
          <p:cNvCxnSpPr>
            <a:cxnSpLocks/>
          </p:cNvCxnSpPr>
          <p:nvPr/>
        </p:nvCxnSpPr>
        <p:spPr>
          <a:xfrm>
            <a:off x="7296150" y="2374899"/>
            <a:ext cx="963246" cy="31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EFB1AD2-61F5-F9CD-D55D-BE63CF3BC9AD}"/>
              </a:ext>
            </a:extLst>
          </p:cNvPr>
          <p:cNvSpPr txBox="1"/>
          <p:nvPr/>
        </p:nvSpPr>
        <p:spPr>
          <a:xfrm>
            <a:off x="4712607" y="2157186"/>
            <a:ext cx="2402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screening nonbinders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37DF0B-258C-317C-78B0-B5BBE9812EEA}"/>
              </a:ext>
            </a:extLst>
          </p:cNvPr>
          <p:cNvCxnSpPr>
            <a:cxnSpLocks/>
          </p:cNvCxnSpPr>
          <p:nvPr/>
        </p:nvCxnSpPr>
        <p:spPr>
          <a:xfrm flipV="1">
            <a:off x="3373361" y="2476500"/>
            <a:ext cx="1236739" cy="98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A90BF5C-4D8E-38DF-7B5C-32281C680213}"/>
              </a:ext>
            </a:extLst>
          </p:cNvPr>
          <p:cNvCxnSpPr>
            <a:cxnSpLocks/>
          </p:cNvCxnSpPr>
          <p:nvPr/>
        </p:nvCxnSpPr>
        <p:spPr>
          <a:xfrm flipV="1">
            <a:off x="7234161" y="3086100"/>
            <a:ext cx="1019932" cy="596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962BAFE-8BCB-6C6A-2A18-2E09BF787773}"/>
              </a:ext>
            </a:extLst>
          </p:cNvPr>
          <p:cNvCxnSpPr>
            <a:cxnSpLocks/>
          </p:cNvCxnSpPr>
          <p:nvPr/>
        </p:nvCxnSpPr>
        <p:spPr>
          <a:xfrm>
            <a:off x="2301840" y="4305300"/>
            <a:ext cx="0" cy="142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EAC5F25-7285-FE4E-043C-BAB385CD1678}"/>
              </a:ext>
            </a:extLst>
          </p:cNvPr>
          <p:cNvSpPr txBox="1"/>
          <p:nvPr/>
        </p:nvSpPr>
        <p:spPr>
          <a:xfrm>
            <a:off x="1221921" y="5769010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all binders (PSSM)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409B79-5E4A-91BC-B867-88A03CAEAD89}"/>
              </a:ext>
            </a:extLst>
          </p:cNvPr>
          <p:cNvSpPr txBox="1"/>
          <p:nvPr/>
        </p:nvSpPr>
        <p:spPr>
          <a:xfrm>
            <a:off x="8364904" y="2740269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test set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81FC93-947E-EB39-2AD0-411A8FE3F2D2}"/>
              </a:ext>
            </a:extLst>
          </p:cNvPr>
          <p:cNvSpPr txBox="1"/>
          <p:nvPr/>
        </p:nvSpPr>
        <p:spPr>
          <a:xfrm>
            <a:off x="8329735" y="460423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”train”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74EA98-546E-719C-DA22-BAECCB15B820}"/>
              </a:ext>
            </a:extLst>
          </p:cNvPr>
          <p:cNvSpPr txBox="1"/>
          <p:nvPr/>
        </p:nvSpPr>
        <p:spPr>
          <a:xfrm>
            <a:off x="9121042" y="45573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PSSM</a:t>
            </a:r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E0C50051-D35F-D4B3-23BC-5A0810D2BAE3}"/>
              </a:ext>
            </a:extLst>
          </p:cNvPr>
          <p:cNvSpPr/>
          <p:nvPr/>
        </p:nvSpPr>
        <p:spPr>
          <a:xfrm>
            <a:off x="9709657" y="4248787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D4940CF8-7BCE-D703-64E8-FF4986379BA7}"/>
              </a:ext>
            </a:extLst>
          </p:cNvPr>
          <p:cNvSpPr/>
          <p:nvPr/>
        </p:nvSpPr>
        <p:spPr>
          <a:xfrm>
            <a:off x="9264528" y="2536173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FFDA881C-B3CC-3A13-1A51-17B296991B9B}"/>
              </a:ext>
            </a:extLst>
          </p:cNvPr>
          <p:cNvSpPr/>
          <p:nvPr/>
        </p:nvSpPr>
        <p:spPr>
          <a:xfrm>
            <a:off x="2474120" y="5491655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2596409-FF3E-98A2-29CB-2DBE3FC986BE}"/>
              </a:ext>
            </a:extLst>
          </p:cNvPr>
          <p:cNvGrpSpPr/>
          <p:nvPr/>
        </p:nvGrpSpPr>
        <p:grpSpPr>
          <a:xfrm>
            <a:off x="127000" y="1529732"/>
            <a:ext cx="2235200" cy="850900"/>
            <a:chOff x="114300" y="165100"/>
            <a:chExt cx="2235200" cy="850900"/>
          </a:xfrm>
        </p:grpSpPr>
        <p:sp>
          <p:nvSpPr>
            <p:cNvPr id="49" name="5-Point Star 48">
              <a:extLst>
                <a:ext uri="{FF2B5EF4-FFF2-40B4-BE49-F238E27FC236}">
                  <a16:creationId xmlns:a16="http://schemas.microsoft.com/office/drawing/2014/main" id="{13FC2CBF-3A11-B739-34C9-97999C754FB2}"/>
                </a:ext>
              </a:extLst>
            </p:cNvPr>
            <p:cNvSpPr/>
            <p:nvPr/>
          </p:nvSpPr>
          <p:spPr>
            <a:xfrm>
              <a:off x="340520" y="246555"/>
              <a:ext cx="294968" cy="250723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10CDCAB-404D-D1A1-B9CB-0A167AD52114}"/>
                </a:ext>
              </a:extLst>
            </p:cNvPr>
            <p:cNvSpPr/>
            <p:nvPr/>
          </p:nvSpPr>
          <p:spPr>
            <a:xfrm>
              <a:off x="114300" y="165100"/>
              <a:ext cx="2235200" cy="8509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248261-23BD-314F-34DA-C25A94624698}"/>
                </a:ext>
              </a:extLst>
            </p:cNvPr>
            <p:cNvSpPr txBox="1"/>
            <p:nvPr/>
          </p:nvSpPr>
          <p:spPr>
            <a:xfrm>
              <a:off x="685800" y="228600"/>
              <a:ext cx="1553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training set</a:t>
              </a:r>
            </a:p>
          </p:txBody>
        </p:sp>
        <p:sp>
          <p:nvSpPr>
            <p:cNvPr id="7" name="5-Point Star 6">
              <a:extLst>
                <a:ext uri="{FF2B5EF4-FFF2-40B4-BE49-F238E27FC236}">
                  <a16:creationId xmlns:a16="http://schemas.microsoft.com/office/drawing/2014/main" id="{FE92B311-1CA5-1BA7-33F5-5D10EDCEA1EC}"/>
                </a:ext>
              </a:extLst>
            </p:cNvPr>
            <p:cNvSpPr/>
            <p:nvPr/>
          </p:nvSpPr>
          <p:spPr>
            <a:xfrm>
              <a:off x="349128" y="631173"/>
              <a:ext cx="294968" cy="250723"/>
            </a:xfrm>
            <a:prstGeom prst="star5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6469E4-4A6D-F3E5-2D9B-A75C1C816C77}"/>
                </a:ext>
              </a:extLst>
            </p:cNvPr>
            <p:cNvSpPr txBox="1"/>
            <p:nvPr/>
          </p:nvSpPr>
          <p:spPr>
            <a:xfrm>
              <a:off x="685800" y="571500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>
                  <a:latin typeface="Avenir Book" panose="02000503020000020003" pitchFamily="2" charset="0"/>
                </a:rPr>
                <a:t>= test set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CFB7FE7-B776-CB5D-26E5-9433B5CF8EE9}"/>
              </a:ext>
            </a:extLst>
          </p:cNvPr>
          <p:cNvSpPr txBox="1"/>
          <p:nvPr/>
        </p:nvSpPr>
        <p:spPr>
          <a:xfrm>
            <a:off x="3313689" y="1893761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ilir</a:t>
            </a:r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C25D83BD-9AA6-1C44-071E-5C23ECA4ABEC}"/>
              </a:ext>
            </a:extLst>
          </p:cNvPr>
          <p:cNvSpPr/>
          <p:nvPr/>
        </p:nvSpPr>
        <p:spPr>
          <a:xfrm>
            <a:off x="3641509" y="1670416"/>
            <a:ext cx="294968" cy="25072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6BB6C2-C889-1EAA-96DF-EB6FAFCB9D87}"/>
              </a:ext>
            </a:extLst>
          </p:cNvPr>
          <p:cNvSpPr txBox="1"/>
          <p:nvPr/>
        </p:nvSpPr>
        <p:spPr>
          <a:xfrm>
            <a:off x="8527531" y="1381145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Avenir Book" panose="02000503020000020003" pitchFamily="2" charset="0"/>
              </a:rPr>
              <a:t>lir central</a:t>
            </a:r>
          </a:p>
        </p:txBody>
      </p:sp>
      <p:sp>
        <p:nvSpPr>
          <p:cNvPr id="13" name="5-Point Star 12">
            <a:extLst>
              <a:ext uri="{FF2B5EF4-FFF2-40B4-BE49-F238E27FC236}">
                <a16:creationId xmlns:a16="http://schemas.microsoft.com/office/drawing/2014/main" id="{18618BBF-0204-3A0B-701C-F5F487DCC5B1}"/>
              </a:ext>
            </a:extLst>
          </p:cNvPr>
          <p:cNvSpPr/>
          <p:nvPr/>
        </p:nvSpPr>
        <p:spPr>
          <a:xfrm>
            <a:off x="9427155" y="1177049"/>
            <a:ext cx="294968" cy="250723"/>
          </a:xfrm>
          <a:prstGeom prst="star5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894AB5-46DD-8345-66C0-3ED2B2DA900B}"/>
              </a:ext>
            </a:extLst>
          </p:cNvPr>
          <p:cNvSpPr txBox="1"/>
          <p:nvPr/>
        </p:nvSpPr>
        <p:spPr>
          <a:xfrm>
            <a:off x="2643512" y="185893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experiment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71F69A-846E-B7B4-0984-7F5CB1C686A8}"/>
              </a:ext>
            </a:extLst>
          </p:cNvPr>
          <p:cNvSpPr txBox="1"/>
          <p:nvPr/>
        </p:nvSpPr>
        <p:spPr>
          <a:xfrm>
            <a:off x="5158015" y="4650015"/>
            <a:ext cx="1872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1.7&lt;= z-score &lt;= 2.0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CCF83-B441-B7C0-7833-1710CC849E0F}"/>
              </a:ext>
            </a:extLst>
          </p:cNvPr>
          <p:cNvSpPr txBox="1"/>
          <p:nvPr/>
        </p:nvSpPr>
        <p:spPr>
          <a:xfrm>
            <a:off x="5127172" y="4918529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2.0 &lt;= z-score &lt;= 2.5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73A3F8-38B6-3883-E090-C24FAD79CE36}"/>
              </a:ext>
            </a:extLst>
          </p:cNvPr>
          <p:cNvSpPr txBox="1"/>
          <p:nvPr/>
        </p:nvSpPr>
        <p:spPr>
          <a:xfrm>
            <a:off x="5128986" y="5217886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2.5 &lt;= z-score &lt;= 4.2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4CA03E-0550-5917-9AF2-5EA346988851}"/>
              </a:ext>
            </a:extLst>
          </p:cNvPr>
          <p:cNvSpPr txBox="1"/>
          <p:nvPr/>
        </p:nvSpPr>
        <p:spPr>
          <a:xfrm>
            <a:off x="5194300" y="4343400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1.7 &lt;= z-score &lt;= 4.2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F0D4CC-EB3E-50A2-D637-8E1442E65857}"/>
              </a:ext>
            </a:extLst>
          </p:cNvPr>
          <p:cNvCxnSpPr>
            <a:cxnSpLocks/>
          </p:cNvCxnSpPr>
          <p:nvPr/>
        </p:nvCxnSpPr>
        <p:spPr>
          <a:xfrm flipV="1">
            <a:off x="4762500" y="4506213"/>
            <a:ext cx="438149" cy="243587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1541FB-B913-BCBD-016C-6B820BA3F8DA}"/>
              </a:ext>
            </a:extLst>
          </p:cNvPr>
          <p:cNvSpPr txBox="1"/>
          <p:nvPr/>
        </p:nvSpPr>
        <p:spPr>
          <a:xfrm>
            <a:off x="3784600" y="4762500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chemeClr val="bg2">
                    <a:lumMod val="50000"/>
                  </a:schemeClr>
                </a:solidFill>
                <a:latin typeface="Avenir Book" panose="02000503020000020003" pitchFamily="2" charset="0"/>
              </a:rPr>
              <a:t>all binders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52EB00-E115-21BA-1CE8-9AEBBEA13342}"/>
              </a:ext>
            </a:extLst>
          </p:cNvPr>
          <p:cNvSpPr txBox="1"/>
          <p:nvPr/>
        </p:nvSpPr>
        <p:spPr>
          <a:xfrm>
            <a:off x="111940" y="144308"/>
            <a:ext cx="2161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>
                <a:latin typeface="Avenir Black" panose="02000503020000020003" pitchFamily="2" charset="0"/>
              </a:rPr>
              <a:t>V3</a:t>
            </a:r>
            <a:r>
              <a:rPr lang="en-US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</p:spTree>
    <p:extLst>
      <p:ext uri="{BB962C8B-B14F-4D97-AF65-F5344CB8AC3E}">
        <p14:creationId xmlns:p14="http://schemas.microsoft.com/office/powerpoint/2010/main" val="2097271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E051C-2BCE-C515-77C4-4B503F92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AA5ECC-F66C-F711-BF95-AB02E4AB0A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7"/>
          <a:stretch>
            <a:fillRect/>
          </a:stretch>
        </p:blipFill>
        <p:spPr>
          <a:xfrm>
            <a:off x="0" y="2264978"/>
            <a:ext cx="11984305" cy="397935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2A9EE80-AE9C-7871-6757-9BE7F7DC5F5F}"/>
              </a:ext>
            </a:extLst>
          </p:cNvPr>
          <p:cNvSpPr/>
          <p:nvPr/>
        </p:nvSpPr>
        <p:spPr>
          <a:xfrm>
            <a:off x="575398" y="2139154"/>
            <a:ext cx="121595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2CC1F0-B44E-E007-AA8F-58A810B301D2}"/>
              </a:ext>
            </a:extLst>
          </p:cNvPr>
          <p:cNvCxnSpPr>
            <a:cxnSpLocks/>
          </p:cNvCxnSpPr>
          <p:nvPr/>
        </p:nvCxnSpPr>
        <p:spPr>
          <a:xfrm>
            <a:off x="3738522" y="1416107"/>
            <a:ext cx="0" cy="7120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3608D2D-4A7A-A1DE-F7F9-CA79DEC2A14B}"/>
              </a:ext>
            </a:extLst>
          </p:cNvPr>
          <p:cNvSpPr/>
          <p:nvPr/>
        </p:nvSpPr>
        <p:spPr>
          <a:xfrm>
            <a:off x="2861567" y="2131248"/>
            <a:ext cx="1564777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418BF-477D-ACCA-B875-7B40298067FC}"/>
              </a:ext>
            </a:extLst>
          </p:cNvPr>
          <p:cNvSpPr txBox="1"/>
          <p:nvPr/>
        </p:nvSpPr>
        <p:spPr>
          <a:xfrm>
            <a:off x="3298368" y="1067116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  <a:latin typeface="Avenir Book" panose="02000503020000020003" pitchFamily="2" charset="0"/>
              </a:rPr>
              <a:t>test sets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587E51-B947-2DAA-0F40-3C9AEC2FFF1B}"/>
              </a:ext>
            </a:extLst>
          </p:cNvPr>
          <p:cNvCxnSpPr>
            <a:cxnSpLocks/>
          </p:cNvCxnSpPr>
          <p:nvPr/>
        </p:nvCxnSpPr>
        <p:spPr>
          <a:xfrm flipH="1">
            <a:off x="1731697" y="1391831"/>
            <a:ext cx="1561762" cy="817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B9FF59B-9137-264E-18B5-0068BC36540B}"/>
              </a:ext>
            </a:extLst>
          </p:cNvPr>
          <p:cNvSpPr/>
          <p:nvPr/>
        </p:nvSpPr>
        <p:spPr>
          <a:xfrm>
            <a:off x="5143142" y="2176018"/>
            <a:ext cx="1967960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E01F81-709D-4297-4A57-52C8136E8BD3}"/>
              </a:ext>
            </a:extLst>
          </p:cNvPr>
          <p:cNvCxnSpPr>
            <a:cxnSpLocks/>
          </p:cNvCxnSpPr>
          <p:nvPr/>
        </p:nvCxnSpPr>
        <p:spPr>
          <a:xfrm>
            <a:off x="4191675" y="1424199"/>
            <a:ext cx="1286634" cy="7849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D3C03A-A1AA-61C8-A1F4-466C11A4BBCE}"/>
              </a:ext>
            </a:extLst>
          </p:cNvPr>
          <p:cNvCxnSpPr>
            <a:cxnSpLocks/>
          </p:cNvCxnSpPr>
          <p:nvPr/>
        </p:nvCxnSpPr>
        <p:spPr>
          <a:xfrm flipV="1">
            <a:off x="485523" y="5397388"/>
            <a:ext cx="0" cy="7525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2B6E6C8-F5E8-AA04-5CC8-82695D4FE2EA}"/>
              </a:ext>
            </a:extLst>
          </p:cNvPr>
          <p:cNvSpPr txBox="1"/>
          <p:nvPr/>
        </p:nvSpPr>
        <p:spPr>
          <a:xfrm>
            <a:off x="145545" y="6183682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03CF5E-A931-CECD-95E1-48A43AE3CFF4}"/>
              </a:ext>
            </a:extLst>
          </p:cNvPr>
          <p:cNvSpPr/>
          <p:nvPr/>
        </p:nvSpPr>
        <p:spPr>
          <a:xfrm>
            <a:off x="7577945" y="2170286"/>
            <a:ext cx="209203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90804B-1382-A3CC-EE85-C2331E4F099A}"/>
              </a:ext>
            </a:extLst>
          </p:cNvPr>
          <p:cNvCxnSpPr>
            <a:cxnSpLocks/>
          </p:cNvCxnSpPr>
          <p:nvPr/>
        </p:nvCxnSpPr>
        <p:spPr>
          <a:xfrm>
            <a:off x="4337331" y="1367554"/>
            <a:ext cx="3285366" cy="8982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7B5817-1B0F-186B-D6F5-93C72D794B10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223305" y="2022312"/>
            <a:ext cx="53166" cy="1082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B8BF5B0-72AB-820B-D1DA-91CC1B7362CC}"/>
              </a:ext>
            </a:extLst>
          </p:cNvPr>
          <p:cNvSpPr txBox="1"/>
          <p:nvPr/>
        </p:nvSpPr>
        <p:spPr>
          <a:xfrm>
            <a:off x="2775906" y="1745313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venir Book" panose="02000503020000020003" pitchFamily="2" charset="0"/>
              </a:rPr>
              <a:t>all binders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0F3712-FA3E-8359-27DA-912E41E0B03D}"/>
              </a:ext>
            </a:extLst>
          </p:cNvPr>
          <p:cNvSpPr txBox="1"/>
          <p:nvPr/>
        </p:nvSpPr>
        <p:spPr>
          <a:xfrm>
            <a:off x="199718" y="541942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experiment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C70F0-2354-DBF3-758B-C51E179344D0}"/>
              </a:ext>
            </a:extLst>
          </p:cNvPr>
          <p:cNvSpPr txBox="1"/>
          <p:nvPr/>
        </p:nvSpPr>
        <p:spPr>
          <a:xfrm>
            <a:off x="63388" y="63387"/>
            <a:ext cx="6715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latin typeface="Avenir Black" panose="02000503020000020003" pitchFamily="2" charset="0"/>
              </a:rPr>
              <a:t>V3</a:t>
            </a:r>
            <a:r>
              <a:rPr lang="en-US" sz="2400">
                <a:latin typeface="Avenir Book" panose="02000503020000020003" pitchFamily="2" charset="0"/>
              </a:rPr>
              <a:t> – split all motif matches into separate 7mers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6D618F6-E196-2D47-9947-895478D5A9B8}"/>
              </a:ext>
            </a:extLst>
          </p:cNvPr>
          <p:cNvSpPr/>
          <p:nvPr/>
        </p:nvSpPr>
        <p:spPr>
          <a:xfrm>
            <a:off x="10037924" y="2129826"/>
            <a:ext cx="2092038" cy="4863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1466A88-B22A-C21D-DA2A-B2EFCA8281D0}"/>
              </a:ext>
            </a:extLst>
          </p:cNvPr>
          <p:cNvCxnSpPr>
            <a:cxnSpLocks/>
          </p:cNvCxnSpPr>
          <p:nvPr/>
        </p:nvCxnSpPr>
        <p:spPr>
          <a:xfrm>
            <a:off x="4410160" y="1262358"/>
            <a:ext cx="5761529" cy="946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405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>
            <a:latin typeface="Avenir Book" panose="02000503020000020003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5367</TotalTime>
  <Words>808</Words>
  <Application>Microsoft Macintosh PowerPoint</Application>
  <PresentationFormat>Widescreen</PresentationFormat>
  <Paragraphs>171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Avenir Black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 Halpin</dc:creator>
  <cp:lastModifiedBy>Jackson Halpin</cp:lastModifiedBy>
  <cp:revision>92</cp:revision>
  <dcterms:created xsi:type="dcterms:W3CDTF">2025-05-16T17:34:33Z</dcterms:created>
  <dcterms:modified xsi:type="dcterms:W3CDTF">2025-07-14T16:19:05Z</dcterms:modified>
</cp:coreProperties>
</file>