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98" r:id="rId2"/>
    <p:sldId id="299" r:id="rId3"/>
    <p:sldId id="332" r:id="rId4"/>
    <p:sldId id="300" r:id="rId5"/>
    <p:sldId id="301" r:id="rId6"/>
    <p:sldId id="302" r:id="rId7"/>
    <p:sldId id="307" r:id="rId8"/>
    <p:sldId id="308" r:id="rId9"/>
    <p:sldId id="310" r:id="rId10"/>
    <p:sldId id="331" r:id="rId11"/>
    <p:sldId id="314" r:id="rId12"/>
    <p:sldId id="319" r:id="rId13"/>
    <p:sldId id="333" r:id="rId14"/>
    <p:sldId id="330" r:id="rId15"/>
    <p:sldId id="323" r:id="rId16"/>
    <p:sldId id="316" r:id="rId17"/>
    <p:sldId id="326" r:id="rId18"/>
    <p:sldId id="334" r:id="rId19"/>
    <p:sldId id="320" r:id="rId20"/>
    <p:sldId id="329" r:id="rId21"/>
    <p:sldId id="312" r:id="rId22"/>
    <p:sldId id="335" r:id="rId23"/>
    <p:sldId id="336" r:id="rId24"/>
    <p:sldId id="337" r:id="rId25"/>
    <p:sldId id="338" r:id="rId26"/>
    <p:sldId id="339" r:id="rId27"/>
    <p:sldId id="340" r:id="rId28"/>
    <p:sldId id="34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1"/>
    <p:restoredTop sz="96530"/>
  </p:normalViewPr>
  <p:slideViewPr>
    <p:cSldViewPr snapToGrid="0">
      <p:cViewPr varScale="1">
        <p:scale>
          <a:sx n="157" d="100"/>
          <a:sy n="157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9B552-18C9-9441-92C1-ACCAECF534DC}" type="datetimeFigureOut">
              <a:t>7/11/25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D09E5-0668-2744-8BB3-50BEC0AA90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6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eye, it looks like the iLIR motif would do better on the test set</a:t>
            </a:r>
          </a:p>
          <a:p>
            <a:endParaRPr lang="en-US"/>
          </a:p>
          <a:p>
            <a:r>
              <a:rPr lang="en-US"/>
              <a:t>I don’t think it would matter what backgrounds were used or what type of matrix</a:t>
            </a:r>
          </a:p>
          <a:p>
            <a:endParaRPr lang="en-US"/>
          </a:p>
          <a:p>
            <a:r>
              <a:rPr lang="en-US"/>
              <a:t>But this isn’t necessarily a bad thing. The results might suggest that prior motif definitions are too restrictive and miss many sequences that bind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D09E5-0668-2744-8BB3-50BEC0AA909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86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D09E5-0668-2744-8BB3-50BEC0AA9097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6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3B61-ED8F-81D6-C4B0-DEA17D265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6EFCC-A934-F49F-45BB-DD7184F95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E373-82D2-6CC6-C034-F38DCD1F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F4EE-FA94-77B7-99C1-0A1A3E61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F917B-A193-A424-EB06-29C9A84E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6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7B9F-4F51-4E39-E73F-A4D138EF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2B0B-2844-C5B3-FEF8-81837B043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8D8E-A972-83D1-2A3D-F9FFB030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23D9F-EE5E-2E55-93C7-BD075DFC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9C25-72E1-0BFF-6FDD-254E21EB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9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05CC-96CA-8275-C6E1-B0692615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DF42A-1EF2-5BF8-DA12-E0742F019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54FD-5C2C-5020-94BE-CA998EE4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FDEBD-BCBF-0346-0E87-3B742860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F5A63-E373-0B7D-4D49-1E2BEBF5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8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A1B1-D255-3737-C291-F5CF773E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0B5A4-C515-3BE8-F483-16BA6AE13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B4D5D-DA81-64CE-16B8-9455F7040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75ABF-46DC-3A4B-D2F3-225AA84A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E9E-7D1F-BE6E-BC4E-2B985BCE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44912-6758-8356-E736-ACD8B65A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4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6679-FBBA-9836-3D3E-F65659CA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2C14-AF00-87AB-1675-D03A19BC5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ED212-FF87-72A8-AE19-91E9DFEAA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4862-DD3E-A3B6-527B-642F8CD7B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9FC51-AC31-F7BB-6F1F-F7DE9B2D5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96328-5A0F-C359-465F-7EA7119C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E6DBD-DE85-FDC5-B0FB-AA3452D3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DE995-EE0A-4D1C-4849-FBDD05B5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3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C383-C3DE-45F7-20BA-450B8353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4BB07-199F-2EF3-E681-4B8E92A6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83D06-C33C-F5A9-655A-C0FEE49B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9EEE3-98F9-3496-4CE4-F24F4758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3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F391E-2054-3AF1-6687-E06929A1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D3EF3-9E4D-2E63-4EE6-BF05D256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D2854-16E8-0C4A-B068-3EB0F27C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6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DE49-2742-B431-5712-A8EFDE52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0D8B-361E-4F6C-ABBC-5C9B59A6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240F3-B9BB-BC2D-CE09-807159F5F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AB438-FF23-67F9-E92F-CAFE372D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C1CF7-82CD-B62A-390B-38D6D9DF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90DF3-89C0-2510-8648-71DA10FC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5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4AB1-1E36-EA33-ADFF-BAA6F62CF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A4319-23BA-38C5-9D83-9090082BC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4BB8F-E9BA-3030-8419-9478B85BA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FF5C-A78E-A45C-2AC4-DB4475EC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07D3C-76A1-2809-A05F-36644F54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F848C-6C7F-E6B4-6FF3-D77EE07B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9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B052-08C2-FC5B-CDA9-750B36ED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D6E98-2379-314B-CE45-5FE713D0B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9700-2932-9096-C488-A5CC1B6F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2BD9-9032-B4BF-7521-F3F3F1C5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543A-935D-F946-79AB-67880C9E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5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63B0A-FD9B-2415-2089-AA5B48D02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839C1-2AE5-A78E-BCE3-D0B9C24CB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E725C-A118-39FA-D935-10B93E05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5B110-3478-F438-E4C1-190C9864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0E276-190B-0B60-68B2-F14CD994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3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35131-CF58-C002-7741-0C8AF9B8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74C0-012D-14FB-D378-21CD9B150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50E74-9F08-0526-3EBB-2616FD2B3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0EF73-FF66-D34F-8F38-81D2C270D667}" type="datetimeFigureOut"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58391-BDED-757D-C73A-0851A7809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9C60-3BDF-6D9A-106F-871299EA1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8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7DFE6-9AA4-0A79-2CB4-03A84A50E45C}"/>
              </a:ext>
            </a:extLst>
          </p:cNvPr>
          <p:cNvSpPr txBox="1"/>
          <p:nvPr/>
        </p:nvSpPr>
        <p:spPr>
          <a:xfrm>
            <a:off x="4547734" y="2632878"/>
            <a:ext cx="3538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Residue frequencies</a:t>
            </a:r>
          </a:p>
        </p:txBody>
      </p:sp>
    </p:spTree>
    <p:extLst>
      <p:ext uri="{BB962C8B-B14F-4D97-AF65-F5344CB8AC3E}">
        <p14:creationId xmlns:p14="http://schemas.microsoft.com/office/powerpoint/2010/main" val="349100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18BB5-87E2-ED01-371E-0EF4A12CD08F}"/>
              </a:ext>
            </a:extLst>
          </p:cNvPr>
          <p:cNvSpPr txBox="1"/>
          <p:nvPr/>
        </p:nvSpPr>
        <p:spPr>
          <a:xfrm>
            <a:off x="182197" y="0"/>
            <a:ext cx="2387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venir Book" panose="02000503020000020003" pitchFamily="2" charset="0"/>
              </a:rPr>
              <a:t>screening hits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08975-3459-5E62-46F6-97E4B12374CF}"/>
              </a:ext>
            </a:extLst>
          </p:cNvPr>
          <p:cNvSpPr txBox="1"/>
          <p:nvPr/>
        </p:nvSpPr>
        <p:spPr>
          <a:xfrm>
            <a:off x="1253766" y="1121789"/>
            <a:ext cx="2517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Jen’s defined 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(z-score &gt; 1.7)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C58EC-91F9-087F-C261-86592B2DB659}"/>
              </a:ext>
            </a:extLst>
          </p:cNvPr>
          <p:cNvSpPr txBox="1"/>
          <p:nvPr/>
        </p:nvSpPr>
        <p:spPr>
          <a:xfrm>
            <a:off x="631595" y="3261675"/>
            <a:ext cx="311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Jen’s defined nonbinders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(dropped out after round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CFC77-A8C7-2FDE-4266-5D845F82BBBD}"/>
              </a:ext>
            </a:extLst>
          </p:cNvPr>
          <p:cNvSpPr txBox="1"/>
          <p:nvPr/>
        </p:nvSpPr>
        <p:spPr>
          <a:xfrm>
            <a:off x="94268" y="5241303"/>
            <a:ext cx="357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LIRs in input library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(everything with &gt;100 reads in input library)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7F6DE-07C2-E658-A177-F8A252D96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514" y="294326"/>
            <a:ext cx="7254657" cy="2188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31D6EB-C720-A626-E5D5-0740C8096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700" y="2556758"/>
            <a:ext cx="7284548" cy="2176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09D3C-FCFD-F845-D665-6A66E4EB4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66" y="4850840"/>
            <a:ext cx="7377194" cy="200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4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66183-94EF-E314-73EF-CA713E26B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199099-43DB-783A-2193-709340E1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0" y="497940"/>
            <a:ext cx="4959327" cy="62242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B8BB1C-0DEC-E6F9-90EB-D0BBB48F014A}"/>
              </a:ext>
            </a:extLst>
          </p:cNvPr>
          <p:cNvSpPr txBox="1"/>
          <p:nvPr/>
        </p:nvSpPr>
        <p:spPr>
          <a:xfrm>
            <a:off x="182197" y="0"/>
            <a:ext cx="2387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venir Book" panose="02000503020000020003" pitchFamily="2" charset="0"/>
              </a:rPr>
              <a:t>screening hits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44ED5-7FCD-E04E-5B9D-D1686CD002F9}"/>
              </a:ext>
            </a:extLst>
          </p:cNvPr>
          <p:cNvSpPr txBox="1"/>
          <p:nvPr/>
        </p:nvSpPr>
        <p:spPr>
          <a:xfrm>
            <a:off x="2942376" y="0"/>
            <a:ext cx="2484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latin typeface="Avenir Book" panose="02000503020000020003" pitchFamily="2" charset="0"/>
              </a:rPr>
              <a:t>z-score ranges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7D0295-7766-E95D-F2EC-DF6F72AD6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061" y="1171997"/>
            <a:ext cx="5443182" cy="52730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C9CA3B-DA5B-4887-DA1C-3093BC95841B}"/>
              </a:ext>
            </a:extLst>
          </p:cNvPr>
          <p:cNvSpPr/>
          <p:nvPr/>
        </p:nvSpPr>
        <p:spPr>
          <a:xfrm>
            <a:off x="7049948" y="1262619"/>
            <a:ext cx="4640238" cy="1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69BAA-0832-AA7A-5696-386865D2ACE7}"/>
              </a:ext>
            </a:extLst>
          </p:cNvPr>
          <p:cNvSpPr/>
          <p:nvPr/>
        </p:nvSpPr>
        <p:spPr>
          <a:xfrm rot="5400000">
            <a:off x="9233590" y="3391671"/>
            <a:ext cx="4640238" cy="1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9A283-33B5-2BEA-C8DB-3D1A41C70A73}"/>
              </a:ext>
            </a:extLst>
          </p:cNvPr>
          <p:cNvSpPr txBox="1"/>
          <p:nvPr/>
        </p:nvSpPr>
        <p:spPr>
          <a:xfrm>
            <a:off x="7814222" y="921427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solidFill>
                  <a:srgbClr val="FF0000"/>
                </a:solidFill>
                <a:latin typeface="Avenir Book" panose="02000503020000020003" pitchFamily="2" charset="0"/>
              </a:rPr>
              <a:t>212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40D3C-56C5-D891-1E97-FEC7978D8D54}"/>
              </a:ext>
            </a:extLst>
          </p:cNvPr>
          <p:cNvSpPr txBox="1"/>
          <p:nvPr/>
        </p:nvSpPr>
        <p:spPr>
          <a:xfrm>
            <a:off x="10120694" y="1603815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solidFill>
                  <a:srgbClr val="FF0000"/>
                </a:solidFill>
                <a:latin typeface="Avenir Book" panose="02000503020000020003" pitchFamily="2" charset="0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42920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63D91-85CD-0560-14D7-F27C407AF117}"/>
              </a:ext>
            </a:extLst>
          </p:cNvPr>
          <p:cNvSpPr txBox="1"/>
          <p:nvPr/>
        </p:nvSpPr>
        <p:spPr>
          <a:xfrm>
            <a:off x="182197" y="0"/>
            <a:ext cx="2387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venir Book" panose="02000503020000020003" pitchFamily="2" charset="0"/>
              </a:rPr>
              <a:t>screening hits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3BD0B-A302-2917-1E88-791306F5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02"/>
          <a:stretch>
            <a:fillRect/>
          </a:stretch>
        </p:blipFill>
        <p:spPr>
          <a:xfrm>
            <a:off x="3114063" y="344645"/>
            <a:ext cx="4774524" cy="6024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CC9F4-8603-06D8-CD14-B4F206706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498"/>
          <a:stretch>
            <a:fillRect/>
          </a:stretch>
        </p:blipFill>
        <p:spPr>
          <a:xfrm>
            <a:off x="7879312" y="334045"/>
            <a:ext cx="4161892" cy="6290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D9C3C3-0BAC-20AB-E976-24A22BD71D34}"/>
              </a:ext>
            </a:extLst>
          </p:cNvPr>
          <p:cNvSpPr txBox="1"/>
          <p:nvPr/>
        </p:nvSpPr>
        <p:spPr>
          <a:xfrm>
            <a:off x="0" y="2516863"/>
            <a:ext cx="333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all binders w/ z-score &gt; cutoff</a:t>
            </a:r>
          </a:p>
        </p:txBody>
      </p:sp>
    </p:spTree>
    <p:extLst>
      <p:ext uri="{BB962C8B-B14F-4D97-AF65-F5344CB8AC3E}">
        <p14:creationId xmlns:p14="http://schemas.microsoft.com/office/powerpoint/2010/main" val="156096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F2C9-7902-F62A-11AE-C42023EB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F86FE-FB6E-3DD6-AC16-8BB516242D9D}"/>
              </a:ext>
            </a:extLst>
          </p:cNvPr>
          <p:cNvSpPr txBox="1"/>
          <p:nvPr/>
        </p:nvSpPr>
        <p:spPr>
          <a:xfrm>
            <a:off x="182197" y="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venir Book" panose="02000503020000020003" pitchFamily="2" charset="0"/>
              </a:rPr>
              <a:t>iLIR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55E744-CE26-8185-8FB8-43383531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29" y="886022"/>
            <a:ext cx="7607509" cy="2130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69EBE8-E6DA-0584-77AF-EF8296FA3433}"/>
              </a:ext>
            </a:extLst>
          </p:cNvPr>
          <p:cNvSpPr txBox="1"/>
          <p:nvPr/>
        </p:nvSpPr>
        <p:spPr>
          <a:xfrm>
            <a:off x="2785473" y="1816576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 motifs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15F0D-EF3F-8122-DEA7-BB00DC493216}"/>
              </a:ext>
            </a:extLst>
          </p:cNvPr>
          <p:cNvSpPr txBox="1"/>
          <p:nvPr/>
        </p:nvSpPr>
        <p:spPr>
          <a:xfrm>
            <a:off x="6274051" y="3159659"/>
            <a:ext cx="329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(previously annotated binders)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CECA2-5C2B-09FB-10EB-BAF386E4E297}"/>
              </a:ext>
            </a:extLst>
          </p:cNvPr>
          <p:cNvSpPr txBox="1"/>
          <p:nvPr/>
        </p:nvSpPr>
        <p:spPr>
          <a:xfrm>
            <a:off x="1258432" y="5187636"/>
            <a:ext cx="941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iLIR is just an older set of LIRs used to make a PSSM-based LIR searching web server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There was no overlap between iLIR and LIR central in the files that Jen sent me	</a:t>
            </a:r>
          </a:p>
        </p:txBody>
      </p:sp>
    </p:spTree>
    <p:extLst>
      <p:ext uri="{BB962C8B-B14F-4D97-AF65-F5344CB8AC3E}">
        <p14:creationId xmlns:p14="http://schemas.microsoft.com/office/powerpoint/2010/main" val="216746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2E2D-AE00-6432-3BA3-8334BAD8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55E1A-4673-A830-181A-0493EC285FCB}"/>
              </a:ext>
            </a:extLst>
          </p:cNvPr>
          <p:cNvSpPr txBox="1"/>
          <p:nvPr/>
        </p:nvSpPr>
        <p:spPr>
          <a:xfrm>
            <a:off x="320512" y="273377"/>
            <a:ext cx="902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Test set – Lir central motifs matching regex + peptides from the screen tested by BLI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EFDAD4-71E4-FC52-5A7A-88E2461D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00" y="3867085"/>
            <a:ext cx="7016775" cy="21377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036B0A-28AC-ADF2-F335-DDE691E9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88" y="1237007"/>
            <a:ext cx="6954895" cy="21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7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75FF9F-2E6C-105D-96C3-F1E855C9D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9" y="552261"/>
            <a:ext cx="4959327" cy="62242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9C5A10-48D5-3D74-0FAA-8D3614E7863E}"/>
              </a:ext>
            </a:extLst>
          </p:cNvPr>
          <p:cNvSpPr txBox="1"/>
          <p:nvPr/>
        </p:nvSpPr>
        <p:spPr>
          <a:xfrm>
            <a:off x="182197" y="0"/>
            <a:ext cx="2387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venir Book" panose="02000503020000020003" pitchFamily="2" charset="0"/>
              </a:rPr>
              <a:t>screening hits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DBF89-3817-B0D4-F6F4-488D91188FD1}"/>
              </a:ext>
            </a:extLst>
          </p:cNvPr>
          <p:cNvSpPr txBox="1"/>
          <p:nvPr/>
        </p:nvSpPr>
        <p:spPr>
          <a:xfrm>
            <a:off x="2942376" y="0"/>
            <a:ext cx="2484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latin typeface="Avenir Book" panose="02000503020000020003" pitchFamily="2" charset="0"/>
              </a:rPr>
              <a:t>z-score ranges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03A4A-9C58-4148-D96E-ACC9C001F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783" y="2841570"/>
            <a:ext cx="5469207" cy="1531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EC021B-7417-12F7-E372-9BE141B6EF9D}"/>
              </a:ext>
            </a:extLst>
          </p:cNvPr>
          <p:cNvSpPr txBox="1"/>
          <p:nvPr/>
        </p:nvSpPr>
        <p:spPr>
          <a:xfrm>
            <a:off x="8461995" y="2562131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 motifs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A3E9D-1D5D-DDA8-6792-322320470BA7}"/>
              </a:ext>
            </a:extLst>
          </p:cNvPr>
          <p:cNvSpPr txBox="1"/>
          <p:nvPr/>
        </p:nvSpPr>
        <p:spPr>
          <a:xfrm>
            <a:off x="7632071" y="4445251"/>
            <a:ext cx="329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(previously annotated binders)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905967-B0FB-31A2-85F1-E56704473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155" y="503677"/>
            <a:ext cx="5567747" cy="16963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DADCC3-84C2-1116-3289-E178A972A1CA}"/>
              </a:ext>
            </a:extLst>
          </p:cNvPr>
          <p:cNvSpPr txBox="1"/>
          <p:nvPr/>
        </p:nvSpPr>
        <p:spPr>
          <a:xfrm>
            <a:off x="7849543" y="152966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 - augmented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20686-D504-31CF-FAF1-334BC8F85759}"/>
              </a:ext>
            </a:extLst>
          </p:cNvPr>
          <p:cNvSpPr txBox="1"/>
          <p:nvPr/>
        </p:nvSpPr>
        <p:spPr>
          <a:xfrm>
            <a:off x="6362182" y="339788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357840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B7F49-6F96-6D2A-D381-BDF7A2EAD45E}"/>
              </a:ext>
            </a:extLst>
          </p:cNvPr>
          <p:cNvSpPr txBox="1"/>
          <p:nvPr/>
        </p:nvSpPr>
        <p:spPr>
          <a:xfrm>
            <a:off x="3968072" y="2829998"/>
            <a:ext cx="494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latin typeface="Avenir Book" panose="02000503020000020003" pitchFamily="2" charset="0"/>
              </a:rPr>
              <a:t>PSSMs and their performance</a:t>
            </a:r>
          </a:p>
        </p:txBody>
      </p:sp>
    </p:spTree>
    <p:extLst>
      <p:ext uri="{BB962C8B-B14F-4D97-AF65-F5344CB8AC3E}">
        <p14:creationId xmlns:p14="http://schemas.microsoft.com/office/powerpoint/2010/main" val="280014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E3A5-26A4-C618-D383-6778B319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1C7362-D5E4-F8A5-75B2-7414C7D2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022105"/>
            <a:ext cx="9296400" cy="4835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EFF590-A502-5B0B-2ABE-D945A12AF3F9}"/>
              </a:ext>
            </a:extLst>
          </p:cNvPr>
          <p:cNvSpPr txBox="1"/>
          <p:nvPr/>
        </p:nvSpPr>
        <p:spPr>
          <a:xfrm>
            <a:off x="4933572" y="236239"/>
            <a:ext cx="267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Background frequencies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B1078-75E8-D69C-0759-50C1D38E20F7}"/>
              </a:ext>
            </a:extLst>
          </p:cNvPr>
          <p:cNvSpPr txBox="1"/>
          <p:nvPr/>
        </p:nvSpPr>
        <p:spPr>
          <a:xfrm>
            <a:off x="381001" y="965200"/>
            <a:ext cx="1027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 saw really weird artifacts when using “position specific backgrounds”, so I decided to use just residue frequencies for backgrounds</a:t>
            </a:r>
          </a:p>
        </p:txBody>
      </p:sp>
    </p:spTree>
    <p:extLst>
      <p:ext uri="{BB962C8B-B14F-4D97-AF65-F5344CB8AC3E}">
        <p14:creationId xmlns:p14="http://schemas.microsoft.com/office/powerpoint/2010/main" val="254879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7555D-96E4-8782-EB9B-B63A9A1D89F5}"/>
              </a:ext>
            </a:extLst>
          </p:cNvPr>
          <p:cNvSpPr txBox="1"/>
          <p:nvPr/>
        </p:nvSpPr>
        <p:spPr>
          <a:xfrm>
            <a:off x="765313" y="1421296"/>
            <a:ext cx="10878619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b="1">
                <a:latin typeface="Avenir Book" panose="02000503020000020003" pitchFamily="2" charset="0"/>
              </a:rPr>
              <a:t>Notes on processing in subsequent analyses: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expanded ilir 6mers to 7mers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reduced screening motifs to 7mers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duplicate 7mers from lir central test set, ilir set, and screening sets (binders and nonbinders)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7mers from screening sets that are present in ilir set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7mers from screening sets that were present in both nonbinder and binder sets</a:t>
            </a:r>
          </a:p>
        </p:txBody>
      </p:sp>
    </p:spTree>
    <p:extLst>
      <p:ext uri="{BB962C8B-B14F-4D97-AF65-F5344CB8AC3E}">
        <p14:creationId xmlns:p14="http://schemas.microsoft.com/office/powerpoint/2010/main" val="375021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EF5C-762B-F039-1B21-39F5EB64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5177E-A322-8362-3199-5D1F834E3FD7}"/>
              </a:ext>
            </a:extLst>
          </p:cNvPr>
          <p:cNvSpPr txBox="1"/>
          <p:nvPr/>
        </p:nvSpPr>
        <p:spPr>
          <a:xfrm>
            <a:off x="347663" y="1182688"/>
            <a:ext cx="2427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latin typeface="Avenir Book" panose="02000503020000020003" pitchFamily="2" charset="0"/>
              </a:rPr>
              <a:t>Foreground 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4A415-C34A-9C26-C291-407F2FB470FC}"/>
              </a:ext>
            </a:extLst>
          </p:cNvPr>
          <p:cNvSpPr txBox="1"/>
          <p:nvPr/>
        </p:nvSpPr>
        <p:spPr>
          <a:xfrm>
            <a:off x="3517900" y="1244600"/>
            <a:ext cx="2450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latin typeface="Avenir Book" panose="02000503020000020003" pitchFamily="2" charset="0"/>
              </a:rPr>
              <a:t>background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F99BD-DBD8-116F-51E7-4FFAD52E019A}"/>
              </a:ext>
            </a:extLst>
          </p:cNvPr>
          <p:cNvSpPr txBox="1"/>
          <p:nvPr/>
        </p:nvSpPr>
        <p:spPr>
          <a:xfrm>
            <a:off x="4305300" y="2476500"/>
            <a:ext cx="120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proteome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FFA2F-8076-CAB1-805E-33E149B0B797}"/>
              </a:ext>
            </a:extLst>
          </p:cNvPr>
          <p:cNvSpPr txBox="1"/>
          <p:nvPr/>
        </p:nvSpPr>
        <p:spPr>
          <a:xfrm>
            <a:off x="3556000" y="3479800"/>
            <a:ext cx="283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iLiR provided 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9C4D2-70C3-8278-0EBA-76F219526AE0}"/>
              </a:ext>
            </a:extLst>
          </p:cNvPr>
          <p:cNvSpPr txBox="1"/>
          <p:nvPr/>
        </p:nvSpPr>
        <p:spPr>
          <a:xfrm>
            <a:off x="3759200" y="4254500"/>
            <a:ext cx="325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nonbinders from screen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(only undefined positions averaged together)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54EA8-6AFC-4667-EF0B-ACC27C2458BB}"/>
              </a:ext>
            </a:extLst>
          </p:cNvPr>
          <p:cNvSpPr txBox="1"/>
          <p:nvPr/>
        </p:nvSpPr>
        <p:spPr>
          <a:xfrm>
            <a:off x="7264400" y="1257300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latin typeface="Avenir Book" panose="02000503020000020003" pitchFamily="2" charset="0"/>
              </a:rPr>
              <a:t>pseudocounts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DE585-F180-28AE-090C-AE9F9A85A657}"/>
              </a:ext>
            </a:extLst>
          </p:cNvPr>
          <p:cNvSpPr txBox="1"/>
          <p:nvPr/>
        </p:nvSpPr>
        <p:spPr>
          <a:xfrm>
            <a:off x="4038600" y="5740400"/>
            <a:ext cx="214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screen input library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62175-D76D-6A7D-EBF8-1D3DECB2D52F}"/>
              </a:ext>
            </a:extLst>
          </p:cNvPr>
          <p:cNvSpPr txBox="1"/>
          <p:nvPr/>
        </p:nvSpPr>
        <p:spPr>
          <a:xfrm>
            <a:off x="647700" y="2514600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1D773-A943-CD7C-41DB-51FCE7BE29E3}"/>
              </a:ext>
            </a:extLst>
          </p:cNvPr>
          <p:cNvSpPr txBox="1"/>
          <p:nvPr/>
        </p:nvSpPr>
        <p:spPr>
          <a:xfrm>
            <a:off x="304800" y="3390900"/>
            <a:ext cx="2251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screen binders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weighted by z-score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42C86-67C2-4CFC-0352-1C062FBE329C}"/>
              </a:ext>
            </a:extLst>
          </p:cNvPr>
          <p:cNvSpPr txBox="1"/>
          <p:nvPr/>
        </p:nvSpPr>
        <p:spPr>
          <a:xfrm>
            <a:off x="457200" y="4495800"/>
            <a:ext cx="238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 with z-score&gt;2.4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6D0B16-7B25-844C-A8C0-3FE5516CE6C9}"/>
              </a:ext>
            </a:extLst>
          </p:cNvPr>
          <p:cNvSpPr txBox="1"/>
          <p:nvPr/>
        </p:nvSpPr>
        <p:spPr>
          <a:xfrm>
            <a:off x="762000" y="5727700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 binders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B7B95-06A2-084B-0566-40C2C6BDB159}"/>
              </a:ext>
            </a:extLst>
          </p:cNvPr>
          <p:cNvSpPr txBox="1"/>
          <p:nvPr/>
        </p:nvSpPr>
        <p:spPr>
          <a:xfrm>
            <a:off x="8033370" y="24257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97D077-2974-978D-5AF6-EB08A9EC3150}"/>
              </a:ext>
            </a:extLst>
          </p:cNvPr>
          <p:cNvSpPr txBox="1"/>
          <p:nvPr/>
        </p:nvSpPr>
        <p:spPr>
          <a:xfrm>
            <a:off x="7937190" y="33274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0.1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3302D-E1DB-81E5-C7B7-1B8E731E15F4}"/>
              </a:ext>
            </a:extLst>
          </p:cNvPr>
          <p:cNvSpPr txBox="1"/>
          <p:nvPr/>
        </p:nvSpPr>
        <p:spPr>
          <a:xfrm>
            <a:off x="8033370" y="43307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AFC5B-C701-76E8-9DC0-F55B3705F892}"/>
              </a:ext>
            </a:extLst>
          </p:cNvPr>
          <p:cNvSpPr txBox="1"/>
          <p:nvPr/>
        </p:nvSpPr>
        <p:spPr>
          <a:xfrm>
            <a:off x="7969250" y="50546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433AA9-5DF9-A8B9-908D-05DD2A3F543D}"/>
              </a:ext>
            </a:extLst>
          </p:cNvPr>
          <p:cNvSpPr txBox="1"/>
          <p:nvPr/>
        </p:nvSpPr>
        <p:spPr>
          <a:xfrm>
            <a:off x="9677400" y="1282700"/>
            <a:ext cx="2394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latin typeface="Avenir Book" panose="02000503020000020003" pitchFamily="2" charset="0"/>
              </a:rPr>
              <a:t>low count cutoff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6DEEC9-EFEA-6B8C-FF6C-C24F9F1FA26A}"/>
              </a:ext>
            </a:extLst>
          </p:cNvPr>
          <p:cNvCxnSpPr/>
          <p:nvPr/>
        </p:nvCxnSpPr>
        <p:spPr>
          <a:xfrm>
            <a:off x="9867900" y="596900"/>
            <a:ext cx="54610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9A85573-EF89-15A9-940C-E7C6FF9B622F}"/>
              </a:ext>
            </a:extLst>
          </p:cNvPr>
          <p:cNvSpPr txBox="1"/>
          <p:nvPr/>
        </p:nvSpPr>
        <p:spPr>
          <a:xfrm>
            <a:off x="8268013" y="254000"/>
            <a:ext cx="364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chemeClr val="accent1"/>
                </a:solidFill>
                <a:latin typeface="Avenir Book" panose="02000503020000020003" pitchFamily="2" charset="0"/>
              </a:rPr>
              <a:t>counts less than this were set to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36E5BF-FDDC-A6CE-50A2-FA14D5290B5F}"/>
              </a:ext>
            </a:extLst>
          </p:cNvPr>
          <p:cNvSpPr txBox="1"/>
          <p:nvPr/>
        </p:nvSpPr>
        <p:spPr>
          <a:xfrm>
            <a:off x="342900" y="254000"/>
            <a:ext cx="6972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chemeClr val="accent1"/>
                </a:solidFill>
                <a:latin typeface="Avenir Book" panose="02000503020000020003" pitchFamily="2" charset="0"/>
              </a:rPr>
              <a:t>if no pseudocounts were used and a residue had a frequency of 0,</a:t>
            </a:r>
          </a:p>
          <a:p>
            <a:pPr algn="l"/>
            <a:r>
              <a:rPr lang="en-US">
                <a:solidFill>
                  <a:schemeClr val="accent1"/>
                </a:solidFill>
                <a:latin typeface="Avenir Book" panose="02000503020000020003" pitchFamily="2" charset="0"/>
              </a:rPr>
              <a:t>the weight (log2(fg/bg)) was set to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3BFCD0-7520-1834-962E-6993FF74942C}"/>
              </a:ext>
            </a:extLst>
          </p:cNvPr>
          <p:cNvSpPr txBox="1"/>
          <p:nvPr/>
        </p:nvSpPr>
        <p:spPr>
          <a:xfrm>
            <a:off x="10426700" y="23241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1523DD-025F-2394-5B25-52396351B097}"/>
              </a:ext>
            </a:extLst>
          </p:cNvPr>
          <p:cNvSpPr txBox="1"/>
          <p:nvPr/>
        </p:nvSpPr>
        <p:spPr>
          <a:xfrm>
            <a:off x="10439400" y="31877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E16D55-98CD-9085-00CC-A06D5113B247}"/>
              </a:ext>
            </a:extLst>
          </p:cNvPr>
          <p:cNvSpPr txBox="1"/>
          <p:nvPr/>
        </p:nvSpPr>
        <p:spPr>
          <a:xfrm>
            <a:off x="10528300" y="42418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377E8-7CEC-47A6-05D9-060EC966DF79}"/>
              </a:ext>
            </a:extLst>
          </p:cNvPr>
          <p:cNvSpPr txBox="1"/>
          <p:nvPr/>
        </p:nvSpPr>
        <p:spPr>
          <a:xfrm>
            <a:off x="10414000" y="51816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C7DE86-E83A-5A26-639D-ECE910F9B1C8}"/>
              </a:ext>
            </a:extLst>
          </p:cNvPr>
          <p:cNvSpPr txBox="1"/>
          <p:nvPr/>
        </p:nvSpPr>
        <p:spPr>
          <a:xfrm>
            <a:off x="6502401" y="5765800"/>
            <a:ext cx="557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Did a “grid screen” of all these parameters, scoring</a:t>
            </a:r>
          </a:p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each pssm against the lir central + BLI peptides composite benchmark from Jen</a:t>
            </a:r>
          </a:p>
        </p:txBody>
      </p:sp>
    </p:spTree>
    <p:extLst>
      <p:ext uri="{BB962C8B-B14F-4D97-AF65-F5344CB8AC3E}">
        <p14:creationId xmlns:p14="http://schemas.microsoft.com/office/powerpoint/2010/main" val="1581615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8DB3E3-019E-7B55-51BC-CB01F6E4F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6" y="1801504"/>
            <a:ext cx="11484244" cy="5056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CF69E-991C-C165-79E0-ADAADD6A092E}"/>
              </a:ext>
            </a:extLst>
          </p:cNvPr>
          <p:cNvSpPr txBox="1"/>
          <p:nvPr/>
        </p:nvSpPr>
        <p:spPr>
          <a:xfrm>
            <a:off x="787400" y="469900"/>
            <a:ext cx="918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This is a sampling of the results. See the giant table for all. </a:t>
            </a:r>
          </a:p>
          <a:p>
            <a:pPr algn="l"/>
            <a:endParaRPr lang="en-US">
              <a:latin typeface="Avenir Book" panose="02000503020000020003" pitchFamily="2" charset="0"/>
            </a:endParaRPr>
          </a:p>
          <a:p>
            <a:pPr algn="l"/>
            <a:r>
              <a:rPr lang="en-US">
                <a:latin typeface="Avenir Book" panose="02000503020000020003" pitchFamily="2" charset="0"/>
              </a:rPr>
              <a:t>But the take away is that iLir usually wins and the technical details of the pssm contruction don’t have too much of an impact on performance</a:t>
            </a:r>
          </a:p>
        </p:txBody>
      </p:sp>
    </p:spTree>
    <p:extLst>
      <p:ext uri="{BB962C8B-B14F-4D97-AF65-F5344CB8AC3E}">
        <p14:creationId xmlns:p14="http://schemas.microsoft.com/office/powerpoint/2010/main" val="145993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C7EB73-54F7-FEC5-EC1B-B26B9BC8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7" y="1207328"/>
            <a:ext cx="5997437" cy="49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8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094D-72C4-A850-CC3F-B929A09A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A7581-E213-E699-A153-697FE7A7F777}"/>
              </a:ext>
            </a:extLst>
          </p:cNvPr>
          <p:cNvSpPr txBox="1"/>
          <p:nvPr/>
        </p:nvSpPr>
        <p:spPr>
          <a:xfrm>
            <a:off x="728105" y="3167798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4248D1-B7C9-2AF9-89E1-E4691C19F064}"/>
              </a:ext>
            </a:extLst>
          </p:cNvPr>
          <p:cNvCxnSpPr/>
          <p:nvPr/>
        </p:nvCxnSpPr>
        <p:spPr>
          <a:xfrm flipV="1">
            <a:off x="2158698" y="2253398"/>
            <a:ext cx="870155" cy="76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D286DD-9D90-4AAC-B07B-1D6C6B4095B9}"/>
              </a:ext>
            </a:extLst>
          </p:cNvPr>
          <p:cNvCxnSpPr>
            <a:cxnSpLocks/>
          </p:cNvCxnSpPr>
          <p:nvPr/>
        </p:nvCxnSpPr>
        <p:spPr>
          <a:xfrm>
            <a:off x="2129201" y="3639746"/>
            <a:ext cx="899652" cy="89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A6E58C-7DF1-A5B9-8CFB-CCE9E7F3B600}"/>
              </a:ext>
            </a:extLst>
          </p:cNvPr>
          <p:cNvSpPr txBox="1"/>
          <p:nvPr/>
        </p:nvSpPr>
        <p:spPr>
          <a:xfrm>
            <a:off x="2969860" y="4790122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[FWY]xx[FWY]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D8E01-E6ED-FB46-6503-6120B7906447}"/>
              </a:ext>
            </a:extLst>
          </p:cNvPr>
          <p:cNvSpPr txBox="1"/>
          <p:nvPr/>
        </p:nvSpPr>
        <p:spPr>
          <a:xfrm>
            <a:off x="3102595" y="1707709"/>
            <a:ext cx="141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[FWY]xx[LVI]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20BA02-AEB3-49C9-34AB-82D1E6636FCE}"/>
              </a:ext>
            </a:extLst>
          </p:cNvPr>
          <p:cNvCxnSpPr>
            <a:cxnSpLocks/>
          </p:cNvCxnSpPr>
          <p:nvPr/>
        </p:nvCxnSpPr>
        <p:spPr>
          <a:xfrm>
            <a:off x="4695419" y="5188327"/>
            <a:ext cx="1297860" cy="63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5915C0-0EC8-F771-8402-A32BEF4E0E36}"/>
              </a:ext>
            </a:extLst>
          </p:cNvPr>
          <p:cNvSpPr txBox="1"/>
          <p:nvPr/>
        </p:nvSpPr>
        <p:spPr>
          <a:xfrm>
            <a:off x="3515551" y="548329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(66)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F2564-E1CD-1BED-05CD-968E3D3C01B5}"/>
              </a:ext>
            </a:extLst>
          </p:cNvPr>
          <p:cNvSpPr txBox="1"/>
          <p:nvPr/>
        </p:nvSpPr>
        <p:spPr>
          <a:xfrm>
            <a:off x="3427059" y="243038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(212)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837DE5-62BA-C4C9-9FF1-38A901288820}"/>
              </a:ext>
            </a:extLst>
          </p:cNvPr>
          <p:cNvCxnSpPr>
            <a:cxnSpLocks/>
          </p:cNvCxnSpPr>
          <p:nvPr/>
        </p:nvCxnSpPr>
        <p:spPr>
          <a:xfrm flipV="1">
            <a:off x="4695419" y="4347669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0AE88F-FE71-A688-09E5-AABAF7114578}"/>
              </a:ext>
            </a:extLst>
          </p:cNvPr>
          <p:cNvSpPr txBox="1"/>
          <p:nvPr/>
        </p:nvSpPr>
        <p:spPr>
          <a:xfrm>
            <a:off x="5919536" y="412644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BDA5C-1AE6-4400-7D2A-43DA5158BEBF}"/>
              </a:ext>
            </a:extLst>
          </p:cNvPr>
          <p:cNvSpPr txBox="1"/>
          <p:nvPr/>
        </p:nvSpPr>
        <p:spPr>
          <a:xfrm>
            <a:off x="6064152" y="579301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15F022-53FF-61F6-4526-130D41122B2F}"/>
              </a:ext>
            </a:extLst>
          </p:cNvPr>
          <p:cNvCxnSpPr>
            <a:cxnSpLocks/>
          </p:cNvCxnSpPr>
          <p:nvPr/>
        </p:nvCxnSpPr>
        <p:spPr>
          <a:xfrm flipV="1">
            <a:off x="4739664" y="1221011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46A655-4B1A-D547-8C11-F9E73630FAE5}"/>
              </a:ext>
            </a:extLst>
          </p:cNvPr>
          <p:cNvCxnSpPr>
            <a:cxnSpLocks/>
          </p:cNvCxnSpPr>
          <p:nvPr/>
        </p:nvCxnSpPr>
        <p:spPr>
          <a:xfrm>
            <a:off x="4754412" y="2076418"/>
            <a:ext cx="1194622" cy="33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786626-08D1-4CF8-2FF7-29E3BC142047}"/>
              </a:ext>
            </a:extLst>
          </p:cNvPr>
          <p:cNvSpPr txBox="1"/>
          <p:nvPr/>
        </p:nvSpPr>
        <p:spPr>
          <a:xfrm>
            <a:off x="5998193" y="233205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BE4F70-D6BE-8E29-7BF6-01AD9C04CF80}"/>
              </a:ext>
            </a:extLst>
          </p:cNvPr>
          <p:cNvSpPr txBox="1"/>
          <p:nvPr/>
        </p:nvSpPr>
        <p:spPr>
          <a:xfrm>
            <a:off x="6142868" y="51168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2E752B-2EB7-5F31-333E-BEFAC28F6770}"/>
              </a:ext>
            </a:extLst>
          </p:cNvPr>
          <p:cNvCxnSpPr>
            <a:cxnSpLocks/>
          </p:cNvCxnSpPr>
          <p:nvPr/>
        </p:nvCxnSpPr>
        <p:spPr>
          <a:xfrm>
            <a:off x="6879771" y="2989943"/>
            <a:ext cx="337624" cy="26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618F87-C84C-E990-FE6F-B05918D145DE}"/>
              </a:ext>
            </a:extLst>
          </p:cNvPr>
          <p:cNvCxnSpPr>
            <a:cxnSpLocks/>
          </p:cNvCxnSpPr>
          <p:nvPr/>
        </p:nvCxnSpPr>
        <p:spPr>
          <a:xfrm flipV="1">
            <a:off x="6730698" y="3536508"/>
            <a:ext cx="442451" cy="51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27ECC0B-5427-3431-538C-6573BCB56FE0}"/>
              </a:ext>
            </a:extLst>
          </p:cNvPr>
          <p:cNvSpPr txBox="1"/>
          <p:nvPr/>
        </p:nvSpPr>
        <p:spPr>
          <a:xfrm>
            <a:off x="7409124" y="3212044"/>
            <a:ext cx="128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recombine</a:t>
            </a: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7F31C084-C04F-B3D8-3E5E-F8D1264D0644}"/>
              </a:ext>
            </a:extLst>
          </p:cNvPr>
          <p:cNvSpPr/>
          <p:nvPr/>
        </p:nvSpPr>
        <p:spPr>
          <a:xfrm>
            <a:off x="6492620" y="248160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59EF3BA3-E861-C9BE-C6E2-53D212264744}"/>
              </a:ext>
            </a:extLst>
          </p:cNvPr>
          <p:cNvSpPr/>
          <p:nvPr/>
        </p:nvSpPr>
        <p:spPr>
          <a:xfrm>
            <a:off x="6350108" y="5533889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948DA50-F1AA-9AD0-9007-28B81511324F}"/>
              </a:ext>
            </a:extLst>
          </p:cNvPr>
          <p:cNvCxnSpPr>
            <a:cxnSpLocks/>
          </p:cNvCxnSpPr>
          <p:nvPr/>
        </p:nvCxnSpPr>
        <p:spPr>
          <a:xfrm>
            <a:off x="8682055" y="3409174"/>
            <a:ext cx="515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756C60-01CE-1096-6B8B-B05C6C55001B}"/>
              </a:ext>
            </a:extLst>
          </p:cNvPr>
          <p:cNvSpPr txBox="1"/>
          <p:nvPr/>
        </p:nvSpPr>
        <p:spPr>
          <a:xfrm>
            <a:off x="9351756" y="3125839"/>
            <a:ext cx="2345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C332D6-8E0F-9808-9F47-CEE8FE1C2238}"/>
              </a:ext>
            </a:extLst>
          </p:cNvPr>
          <p:cNvCxnSpPr/>
          <p:nvPr/>
        </p:nvCxnSpPr>
        <p:spPr>
          <a:xfrm flipV="1">
            <a:off x="6917650" y="2005376"/>
            <a:ext cx="643943" cy="30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5527EFE-517F-0FC8-F872-2316138D3AF3}"/>
              </a:ext>
            </a:extLst>
          </p:cNvPr>
          <p:cNvSpPr txBox="1"/>
          <p:nvPr/>
        </p:nvSpPr>
        <p:spPr>
          <a:xfrm>
            <a:off x="7615475" y="1799313"/>
            <a:ext cx="214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PSSM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F6ADDC-3BFC-8ED1-E613-4BAEEE38666A}"/>
              </a:ext>
            </a:extLst>
          </p:cNvPr>
          <p:cNvSpPr txBox="1"/>
          <p:nvPr/>
        </p:nvSpPr>
        <p:spPr>
          <a:xfrm>
            <a:off x="7316193" y="4956477"/>
            <a:ext cx="257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PSSM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900F34-EE23-A940-B63E-0DCDD1A86D5F}"/>
              </a:ext>
            </a:extLst>
          </p:cNvPr>
          <p:cNvCxnSpPr>
            <a:cxnSpLocks/>
          </p:cNvCxnSpPr>
          <p:nvPr/>
        </p:nvCxnSpPr>
        <p:spPr>
          <a:xfrm>
            <a:off x="6860003" y="4536177"/>
            <a:ext cx="502275" cy="38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4535CFB8-47BD-0666-AD90-0FA0C69319CF}"/>
              </a:ext>
            </a:extLst>
          </p:cNvPr>
          <p:cNvSpPr/>
          <p:nvPr/>
        </p:nvSpPr>
        <p:spPr>
          <a:xfrm>
            <a:off x="9028914" y="4580852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0F20BA96-D904-34F8-532B-64973F1CC76D}"/>
              </a:ext>
            </a:extLst>
          </p:cNvPr>
          <p:cNvSpPr/>
          <p:nvPr/>
        </p:nvSpPr>
        <p:spPr>
          <a:xfrm>
            <a:off x="9196339" y="156719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154CFE0B-B270-F4AC-1D79-FCD14063BCDC}"/>
              </a:ext>
            </a:extLst>
          </p:cNvPr>
          <p:cNvSpPr/>
          <p:nvPr/>
        </p:nvSpPr>
        <p:spPr>
          <a:xfrm>
            <a:off x="11025139" y="2855084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90878-37F6-F3F3-D8C1-8EC4C8245531}"/>
              </a:ext>
            </a:extLst>
          </p:cNvPr>
          <p:cNvSpPr txBox="1"/>
          <p:nvPr/>
        </p:nvSpPr>
        <p:spPr>
          <a:xfrm>
            <a:off x="5109029" y="6154057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4A5D2-D2C8-FAF2-D617-C00E45311F80}"/>
              </a:ext>
            </a:extLst>
          </p:cNvPr>
          <p:cNvSpPr txBox="1"/>
          <p:nvPr/>
        </p:nvSpPr>
        <p:spPr>
          <a:xfrm>
            <a:off x="5849256" y="439782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5672A-2BF3-91B3-B3CF-12C5B50580F9}"/>
              </a:ext>
            </a:extLst>
          </p:cNvPr>
          <p:cNvSpPr txBox="1"/>
          <p:nvPr/>
        </p:nvSpPr>
        <p:spPr>
          <a:xfrm>
            <a:off x="5972628" y="260531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218A5-DF2C-C017-85B2-1D61957D0BF9}"/>
              </a:ext>
            </a:extLst>
          </p:cNvPr>
          <p:cNvSpPr txBox="1"/>
          <p:nvPr/>
        </p:nvSpPr>
        <p:spPr>
          <a:xfrm>
            <a:off x="5072744" y="805543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57B640-D329-C7C2-17E1-464697D080EB}"/>
              </a:ext>
            </a:extLst>
          </p:cNvPr>
          <p:cNvCxnSpPr>
            <a:cxnSpLocks/>
          </p:cNvCxnSpPr>
          <p:nvPr/>
        </p:nvCxnSpPr>
        <p:spPr>
          <a:xfrm>
            <a:off x="1304890" y="36576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1A8FBF-57C4-C139-5ADD-451E3CBB74F9}"/>
              </a:ext>
            </a:extLst>
          </p:cNvPr>
          <p:cNvSpPr txBox="1"/>
          <p:nvPr/>
        </p:nvSpPr>
        <p:spPr>
          <a:xfrm>
            <a:off x="224971" y="51213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05EF8EC1-007B-E8A8-6142-520B5DE782D6}"/>
              </a:ext>
            </a:extLst>
          </p:cNvPr>
          <p:cNvSpPr/>
          <p:nvPr/>
        </p:nvSpPr>
        <p:spPr>
          <a:xfrm>
            <a:off x="1515270" y="48312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7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F308C1-8ADF-B80E-C309-BBC620F43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250"/>
          <a:stretch>
            <a:fillRect/>
          </a:stretch>
        </p:blipFill>
        <p:spPr>
          <a:xfrm>
            <a:off x="2535664" y="228599"/>
            <a:ext cx="9208661" cy="641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6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9CC4B3-7E26-CB1A-F390-CAA92A0E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F9AE56-E954-185D-1C1F-49A32A390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522"/>
          <a:stretch>
            <a:fillRect/>
          </a:stretch>
        </p:blipFill>
        <p:spPr>
          <a:xfrm>
            <a:off x="0" y="236061"/>
            <a:ext cx="3476742" cy="43359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27B33-4D91-5333-59F9-1DDDA1C2C7C0}"/>
              </a:ext>
            </a:extLst>
          </p:cNvPr>
          <p:cNvSpPr txBox="1"/>
          <p:nvPr/>
        </p:nvSpPr>
        <p:spPr>
          <a:xfrm>
            <a:off x="4717359" y="154678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BAA537-9AE9-1E5F-0BDA-540F2DD6056F}"/>
              </a:ext>
            </a:extLst>
          </p:cNvPr>
          <p:cNvGrpSpPr/>
          <p:nvPr/>
        </p:nvGrpSpPr>
        <p:grpSpPr>
          <a:xfrm>
            <a:off x="4227443" y="519486"/>
            <a:ext cx="7827066" cy="3780982"/>
            <a:chOff x="3714750" y="1645920"/>
            <a:chExt cx="8286751" cy="40030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0FA1EB-7F6F-362D-B5A1-883048CD7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3813" y="1728152"/>
              <a:ext cx="3979358" cy="372295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290997-5E59-7B3D-8D08-9C5680A8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3009" y="1744344"/>
              <a:ext cx="3963711" cy="3708317"/>
            </a:xfrm>
            <a:prstGeom prst="rect">
              <a:avLst/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2219AC2-E99F-D6E2-E62E-C23447E19304}"/>
                </a:ext>
              </a:extLst>
            </p:cNvPr>
            <p:cNvSpPr/>
            <p:nvPr/>
          </p:nvSpPr>
          <p:spPr>
            <a:xfrm>
              <a:off x="3714750" y="1645920"/>
              <a:ext cx="8286751" cy="400304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87D782C-0035-A30E-93BA-20BDF7B0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478"/>
          <a:stretch>
            <a:fillRect/>
          </a:stretch>
        </p:blipFill>
        <p:spPr>
          <a:xfrm>
            <a:off x="0" y="4505739"/>
            <a:ext cx="3476742" cy="2352261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7CAADDEC-563A-7FD3-B9D7-C60E0F405E73}"/>
              </a:ext>
            </a:extLst>
          </p:cNvPr>
          <p:cNvSpPr/>
          <p:nvPr/>
        </p:nvSpPr>
        <p:spPr>
          <a:xfrm rot="16200000">
            <a:off x="5605672" y="2756451"/>
            <a:ext cx="1232452" cy="3670854"/>
          </a:xfrm>
          <a:prstGeom prst="leftBrace">
            <a:avLst>
              <a:gd name="adj1" fmla="val 0"/>
              <a:gd name="adj2" fmla="val 54097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33BBC-F6A8-65BC-B028-65B886E0B87D}"/>
              </a:ext>
            </a:extLst>
          </p:cNvPr>
          <p:cNvSpPr txBox="1"/>
          <p:nvPr/>
        </p:nvSpPr>
        <p:spPr>
          <a:xfrm>
            <a:off x="5751443" y="5261113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  <a:latin typeface="Avenir Book" panose="02000503020000020003" pitchFamily="2" charset="0"/>
              </a:rPr>
              <a:t>binders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5ACC82D6-FD41-4EC6-6F55-55B1FCBA176E}"/>
              </a:ext>
            </a:extLst>
          </p:cNvPr>
          <p:cNvSpPr/>
          <p:nvPr/>
        </p:nvSpPr>
        <p:spPr>
          <a:xfrm rot="16200000">
            <a:off x="9495185" y="2723321"/>
            <a:ext cx="1232452" cy="3670854"/>
          </a:xfrm>
          <a:prstGeom prst="leftBrace">
            <a:avLst>
              <a:gd name="adj1" fmla="val 0"/>
              <a:gd name="adj2" fmla="val 540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F7FF5-698F-BFD5-6CAD-CB6C0042251C}"/>
              </a:ext>
            </a:extLst>
          </p:cNvPr>
          <p:cNvSpPr txBox="1"/>
          <p:nvPr/>
        </p:nvSpPr>
        <p:spPr>
          <a:xfrm>
            <a:off x="9415669" y="5254487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>
                <a:latin typeface="Avenir Book" panose="02000503020000020003" pitchFamily="2" charset="0"/>
              </a:rPr>
              <a:t>nonbinders</a:t>
            </a:r>
          </a:p>
        </p:txBody>
      </p:sp>
    </p:spTree>
    <p:extLst>
      <p:ext uri="{BB962C8B-B14F-4D97-AF65-F5344CB8AC3E}">
        <p14:creationId xmlns:p14="http://schemas.microsoft.com/office/powerpoint/2010/main" val="220972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44EC26-71E9-6F62-3542-F59962E5B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83" y="1892558"/>
            <a:ext cx="11630025" cy="49654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F96B11-729F-D5E6-EAEE-A750CCF37D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120"/>
          <a:stretch>
            <a:fillRect/>
          </a:stretch>
        </p:blipFill>
        <p:spPr>
          <a:xfrm>
            <a:off x="178719" y="557399"/>
            <a:ext cx="3758614" cy="1085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E06D8B-8643-B18D-3848-D59BD7EED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57" b="37463"/>
          <a:stretch>
            <a:fillRect/>
          </a:stretch>
        </p:blipFill>
        <p:spPr>
          <a:xfrm>
            <a:off x="4233884" y="597156"/>
            <a:ext cx="3758614" cy="1085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9E5290-9F71-2F51-CD8F-FEE3839F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3" t="63602" r="-1233" b="6971"/>
          <a:stretch>
            <a:fillRect/>
          </a:stretch>
        </p:blipFill>
        <p:spPr>
          <a:xfrm>
            <a:off x="8110002" y="603259"/>
            <a:ext cx="3758614" cy="103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0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704A-0B1E-DEB4-F5A3-0A721D9D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92FB47-26D6-BE4E-B2EB-4A37C1E46B2F}"/>
              </a:ext>
            </a:extLst>
          </p:cNvPr>
          <p:cNvSpPr txBox="1"/>
          <p:nvPr/>
        </p:nvSpPr>
        <p:spPr>
          <a:xfrm>
            <a:off x="728105" y="3167798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3DD07F-2567-4AE3-D86F-0095DE124DCC}"/>
              </a:ext>
            </a:extLst>
          </p:cNvPr>
          <p:cNvCxnSpPr/>
          <p:nvPr/>
        </p:nvCxnSpPr>
        <p:spPr>
          <a:xfrm flipV="1">
            <a:off x="2158698" y="2253398"/>
            <a:ext cx="870155" cy="76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0C03CB-289D-0E72-06AB-9B81EE802F23}"/>
              </a:ext>
            </a:extLst>
          </p:cNvPr>
          <p:cNvCxnSpPr>
            <a:cxnSpLocks/>
          </p:cNvCxnSpPr>
          <p:nvPr/>
        </p:nvCxnSpPr>
        <p:spPr>
          <a:xfrm>
            <a:off x="2129201" y="3639746"/>
            <a:ext cx="899652" cy="89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13E961-2A58-AA9F-C87A-BB2E198A1EF8}"/>
              </a:ext>
            </a:extLst>
          </p:cNvPr>
          <p:cNvSpPr txBox="1"/>
          <p:nvPr/>
        </p:nvSpPr>
        <p:spPr>
          <a:xfrm>
            <a:off x="2969860" y="4790122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[FWY]xx[FWY]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B3D0F-1379-48FE-9F97-87793C3A80EC}"/>
              </a:ext>
            </a:extLst>
          </p:cNvPr>
          <p:cNvSpPr txBox="1"/>
          <p:nvPr/>
        </p:nvSpPr>
        <p:spPr>
          <a:xfrm>
            <a:off x="3102595" y="1707709"/>
            <a:ext cx="141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[FWY]xx[LVI]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38ECB-0E3C-1667-1F8F-9B824CCC569E}"/>
              </a:ext>
            </a:extLst>
          </p:cNvPr>
          <p:cNvCxnSpPr>
            <a:cxnSpLocks/>
          </p:cNvCxnSpPr>
          <p:nvPr/>
        </p:nvCxnSpPr>
        <p:spPr>
          <a:xfrm>
            <a:off x="4695419" y="5188327"/>
            <a:ext cx="1297860" cy="63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B34DF5-E11B-4EC5-1CDF-A48F3AA61A83}"/>
              </a:ext>
            </a:extLst>
          </p:cNvPr>
          <p:cNvSpPr txBox="1"/>
          <p:nvPr/>
        </p:nvSpPr>
        <p:spPr>
          <a:xfrm>
            <a:off x="3515551" y="548329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(66)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C1759-F936-6AFF-3F91-560FFF6A1BAA}"/>
              </a:ext>
            </a:extLst>
          </p:cNvPr>
          <p:cNvSpPr txBox="1"/>
          <p:nvPr/>
        </p:nvSpPr>
        <p:spPr>
          <a:xfrm>
            <a:off x="3427059" y="243038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(212)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1EBE49-5631-E0D4-817E-C59057F17C92}"/>
              </a:ext>
            </a:extLst>
          </p:cNvPr>
          <p:cNvCxnSpPr>
            <a:cxnSpLocks/>
          </p:cNvCxnSpPr>
          <p:nvPr/>
        </p:nvCxnSpPr>
        <p:spPr>
          <a:xfrm flipV="1">
            <a:off x="4695419" y="4347669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8CC690-1ACB-15F4-54F9-FBB8CFA5B363}"/>
              </a:ext>
            </a:extLst>
          </p:cNvPr>
          <p:cNvSpPr txBox="1"/>
          <p:nvPr/>
        </p:nvSpPr>
        <p:spPr>
          <a:xfrm>
            <a:off x="5919536" y="412644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C90048-5662-6C3C-FF1C-B573E639034D}"/>
              </a:ext>
            </a:extLst>
          </p:cNvPr>
          <p:cNvSpPr txBox="1"/>
          <p:nvPr/>
        </p:nvSpPr>
        <p:spPr>
          <a:xfrm>
            <a:off x="5543452" y="5869211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test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416AE8-8CF7-320E-F955-AF003519F46F}"/>
              </a:ext>
            </a:extLst>
          </p:cNvPr>
          <p:cNvCxnSpPr>
            <a:cxnSpLocks/>
          </p:cNvCxnSpPr>
          <p:nvPr/>
        </p:nvCxnSpPr>
        <p:spPr>
          <a:xfrm flipV="1">
            <a:off x="4739664" y="1221011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FC3A78-A932-7491-523C-73A668EBCF2E}"/>
              </a:ext>
            </a:extLst>
          </p:cNvPr>
          <p:cNvCxnSpPr>
            <a:cxnSpLocks/>
          </p:cNvCxnSpPr>
          <p:nvPr/>
        </p:nvCxnSpPr>
        <p:spPr>
          <a:xfrm>
            <a:off x="4754412" y="2076418"/>
            <a:ext cx="1194622" cy="33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E717D1-E022-47DE-47B3-CF29A0F99630}"/>
              </a:ext>
            </a:extLst>
          </p:cNvPr>
          <p:cNvSpPr txBox="1"/>
          <p:nvPr/>
        </p:nvSpPr>
        <p:spPr>
          <a:xfrm>
            <a:off x="5998193" y="233205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44361E-2D99-7401-A3B6-56B85B936837}"/>
              </a:ext>
            </a:extLst>
          </p:cNvPr>
          <p:cNvSpPr txBox="1"/>
          <p:nvPr/>
        </p:nvSpPr>
        <p:spPr>
          <a:xfrm>
            <a:off x="5588861" y="524384"/>
            <a:ext cx="248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test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AFB69E-EB18-4697-B394-5A643DBC8C23}"/>
              </a:ext>
            </a:extLst>
          </p:cNvPr>
          <p:cNvCxnSpPr>
            <a:cxnSpLocks/>
          </p:cNvCxnSpPr>
          <p:nvPr/>
        </p:nvCxnSpPr>
        <p:spPr>
          <a:xfrm>
            <a:off x="6879771" y="2989943"/>
            <a:ext cx="337624" cy="26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BE4239-E449-0CA6-AEA7-C00A8EA59251}"/>
              </a:ext>
            </a:extLst>
          </p:cNvPr>
          <p:cNvCxnSpPr>
            <a:cxnSpLocks/>
          </p:cNvCxnSpPr>
          <p:nvPr/>
        </p:nvCxnSpPr>
        <p:spPr>
          <a:xfrm flipV="1">
            <a:off x="6730698" y="3536508"/>
            <a:ext cx="442451" cy="51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FCF20E0-7477-DE15-936F-3BFBDCB3619D}"/>
              </a:ext>
            </a:extLst>
          </p:cNvPr>
          <p:cNvSpPr txBox="1"/>
          <p:nvPr/>
        </p:nvSpPr>
        <p:spPr>
          <a:xfrm>
            <a:off x="7409124" y="3212044"/>
            <a:ext cx="128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recombine</a:t>
            </a: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3487FCD8-4EA6-1092-7A48-2E8A1336BBBC}"/>
              </a:ext>
            </a:extLst>
          </p:cNvPr>
          <p:cNvSpPr/>
          <p:nvPr/>
        </p:nvSpPr>
        <p:spPr>
          <a:xfrm>
            <a:off x="6492620" y="248160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20C63E6C-C8A1-0EF9-C01B-C9573D437F5F}"/>
              </a:ext>
            </a:extLst>
          </p:cNvPr>
          <p:cNvSpPr/>
          <p:nvPr/>
        </p:nvSpPr>
        <p:spPr>
          <a:xfrm>
            <a:off x="6350108" y="5533889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0EDA6A-3D22-D96F-EA6D-C582BFEA340F}"/>
              </a:ext>
            </a:extLst>
          </p:cNvPr>
          <p:cNvCxnSpPr>
            <a:cxnSpLocks/>
          </p:cNvCxnSpPr>
          <p:nvPr/>
        </p:nvCxnSpPr>
        <p:spPr>
          <a:xfrm>
            <a:off x="8682055" y="3409174"/>
            <a:ext cx="515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3495160-22D3-88BE-08A5-C6B99BD76376}"/>
              </a:ext>
            </a:extLst>
          </p:cNvPr>
          <p:cNvSpPr txBox="1"/>
          <p:nvPr/>
        </p:nvSpPr>
        <p:spPr>
          <a:xfrm>
            <a:off x="9351756" y="3125839"/>
            <a:ext cx="2345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B492BD-DF68-9D1A-2EFF-4FAA4F96D60F}"/>
              </a:ext>
            </a:extLst>
          </p:cNvPr>
          <p:cNvCxnSpPr/>
          <p:nvPr/>
        </p:nvCxnSpPr>
        <p:spPr>
          <a:xfrm flipV="1">
            <a:off x="6917650" y="2005376"/>
            <a:ext cx="643943" cy="30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D566FD7-F1A8-C83C-0646-B640E07EA34B}"/>
              </a:ext>
            </a:extLst>
          </p:cNvPr>
          <p:cNvSpPr txBox="1"/>
          <p:nvPr/>
        </p:nvSpPr>
        <p:spPr>
          <a:xfrm>
            <a:off x="7615475" y="1799313"/>
            <a:ext cx="214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PSSM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6D3E76-AA15-470D-1A94-D9C391D38CE5}"/>
              </a:ext>
            </a:extLst>
          </p:cNvPr>
          <p:cNvSpPr txBox="1"/>
          <p:nvPr/>
        </p:nvSpPr>
        <p:spPr>
          <a:xfrm>
            <a:off x="7316193" y="4956477"/>
            <a:ext cx="257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PSSM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590A721-7B88-3830-C699-4B9524FF1B04}"/>
              </a:ext>
            </a:extLst>
          </p:cNvPr>
          <p:cNvCxnSpPr>
            <a:cxnSpLocks/>
          </p:cNvCxnSpPr>
          <p:nvPr/>
        </p:nvCxnSpPr>
        <p:spPr>
          <a:xfrm>
            <a:off x="6860003" y="4536177"/>
            <a:ext cx="502275" cy="38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A29EB670-BA44-59D0-212C-B6F3A8353FE4}"/>
              </a:ext>
            </a:extLst>
          </p:cNvPr>
          <p:cNvSpPr/>
          <p:nvPr/>
        </p:nvSpPr>
        <p:spPr>
          <a:xfrm>
            <a:off x="9028914" y="4580852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139188A3-1523-17F7-0368-90A224A63CA0}"/>
              </a:ext>
            </a:extLst>
          </p:cNvPr>
          <p:cNvSpPr/>
          <p:nvPr/>
        </p:nvSpPr>
        <p:spPr>
          <a:xfrm>
            <a:off x="9196339" y="156719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36DD330A-1A95-C4EA-B43B-3E378D31C963}"/>
              </a:ext>
            </a:extLst>
          </p:cNvPr>
          <p:cNvSpPr/>
          <p:nvPr/>
        </p:nvSpPr>
        <p:spPr>
          <a:xfrm>
            <a:off x="11025139" y="2855084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0722B-AD42-9E12-B905-22FC19B32727}"/>
              </a:ext>
            </a:extLst>
          </p:cNvPr>
          <p:cNvSpPr txBox="1"/>
          <p:nvPr/>
        </p:nvSpPr>
        <p:spPr>
          <a:xfrm>
            <a:off x="5223329" y="6230257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6C263-76B1-D316-4668-19D94B63A3DC}"/>
              </a:ext>
            </a:extLst>
          </p:cNvPr>
          <p:cNvSpPr txBox="1"/>
          <p:nvPr/>
        </p:nvSpPr>
        <p:spPr>
          <a:xfrm>
            <a:off x="5849256" y="439782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0DE08-9E9F-1D1D-5154-1B75123C2041}"/>
              </a:ext>
            </a:extLst>
          </p:cNvPr>
          <p:cNvSpPr txBox="1"/>
          <p:nvPr/>
        </p:nvSpPr>
        <p:spPr>
          <a:xfrm>
            <a:off x="5972628" y="260531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9673E-EC9D-BA15-DBB0-34872624800B}"/>
              </a:ext>
            </a:extLst>
          </p:cNvPr>
          <p:cNvSpPr txBox="1"/>
          <p:nvPr/>
        </p:nvSpPr>
        <p:spPr>
          <a:xfrm>
            <a:off x="5136244" y="869043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A55DD2-2697-3004-310D-82576272943D}"/>
              </a:ext>
            </a:extLst>
          </p:cNvPr>
          <p:cNvCxnSpPr>
            <a:cxnSpLocks/>
          </p:cNvCxnSpPr>
          <p:nvPr/>
        </p:nvCxnSpPr>
        <p:spPr>
          <a:xfrm>
            <a:off x="1304890" y="36576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5CDC9F-597E-E4E6-F52E-62FE769E7333}"/>
              </a:ext>
            </a:extLst>
          </p:cNvPr>
          <p:cNvSpPr txBox="1"/>
          <p:nvPr/>
        </p:nvSpPr>
        <p:spPr>
          <a:xfrm>
            <a:off x="224971" y="51213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C5359CCF-C4B2-B0D3-3850-454241543E23}"/>
              </a:ext>
            </a:extLst>
          </p:cNvPr>
          <p:cNvSpPr/>
          <p:nvPr/>
        </p:nvSpPr>
        <p:spPr>
          <a:xfrm>
            <a:off x="1515270" y="48312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F02D7-5665-B077-A1D6-3E11E3AFFE11}"/>
              </a:ext>
            </a:extLst>
          </p:cNvPr>
          <p:cNvGrpSpPr/>
          <p:nvPr/>
        </p:nvGrpSpPr>
        <p:grpSpPr>
          <a:xfrm>
            <a:off x="114300" y="838200"/>
            <a:ext cx="2235200" cy="850900"/>
            <a:chOff x="114300" y="165100"/>
            <a:chExt cx="2235200" cy="850900"/>
          </a:xfrm>
        </p:grpSpPr>
        <p:sp>
          <p:nvSpPr>
            <p:cNvPr id="23" name="5-Point Star 22">
              <a:extLst>
                <a:ext uri="{FF2B5EF4-FFF2-40B4-BE49-F238E27FC236}">
                  <a16:creationId xmlns:a16="http://schemas.microsoft.com/office/drawing/2014/main" id="{244D8567-A945-28ED-AB2A-FC0791CE648E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3D31D89-57EA-5991-6BCB-3FBCAF909267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EF09C7-70D1-6D5A-AD45-7E67D0182C39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30" name="5-Point Star 29">
              <a:extLst>
                <a:ext uri="{FF2B5EF4-FFF2-40B4-BE49-F238E27FC236}">
                  <a16:creationId xmlns:a16="http://schemas.microsoft.com/office/drawing/2014/main" id="{D040A990-E888-7EB8-84C3-E8B877355C02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5E4486-4179-7B01-694A-546F1E75E527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6A5C553-D5AD-3D6E-C2A1-9460C7DB7B74}"/>
              </a:ext>
            </a:extLst>
          </p:cNvPr>
          <p:cNvSpPr txBox="1"/>
          <p:nvPr/>
        </p:nvSpPr>
        <p:spPr>
          <a:xfrm>
            <a:off x="11226800" y="119380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DAF34DC4-A62B-BEBD-4667-E4243CD00BCB}"/>
              </a:ext>
            </a:extLst>
          </p:cNvPr>
          <p:cNvSpPr/>
          <p:nvPr/>
        </p:nvSpPr>
        <p:spPr>
          <a:xfrm>
            <a:off x="11554620" y="9704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E3FBBB-A099-FA44-663C-F5B2BC022EAC}"/>
              </a:ext>
            </a:extLst>
          </p:cNvPr>
          <p:cNvSpPr txBox="1"/>
          <p:nvPr/>
        </p:nvSpPr>
        <p:spPr>
          <a:xfrm>
            <a:off x="10257204" y="555869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40" name="5-Point Star 39">
            <a:extLst>
              <a:ext uri="{FF2B5EF4-FFF2-40B4-BE49-F238E27FC236}">
                <a16:creationId xmlns:a16="http://schemas.microsoft.com/office/drawing/2014/main" id="{62B29192-865D-A9A2-694A-59159456A02F}"/>
              </a:ext>
            </a:extLst>
          </p:cNvPr>
          <p:cNvSpPr/>
          <p:nvPr/>
        </p:nvSpPr>
        <p:spPr>
          <a:xfrm>
            <a:off x="11156828" y="3517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40FFC7-EC97-CAED-A899-6F437D578645}"/>
              </a:ext>
            </a:extLst>
          </p:cNvPr>
          <p:cNvSpPr txBox="1"/>
          <p:nvPr/>
        </p:nvSpPr>
        <p:spPr>
          <a:xfrm>
            <a:off x="215900" y="1778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experiment 1</a:t>
            </a:r>
          </a:p>
        </p:txBody>
      </p:sp>
    </p:spTree>
    <p:extLst>
      <p:ext uri="{BB962C8B-B14F-4D97-AF65-F5344CB8AC3E}">
        <p14:creationId xmlns:p14="http://schemas.microsoft.com/office/powerpoint/2010/main" val="2117648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A51EB-4B5E-C174-1449-3A2A9184C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6" y="1181055"/>
            <a:ext cx="11800246" cy="491949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95DC5E9-DAB8-5F34-E3E0-E5697607D3E0}"/>
              </a:ext>
            </a:extLst>
          </p:cNvPr>
          <p:cNvSpPr/>
          <p:nvPr/>
        </p:nvSpPr>
        <p:spPr>
          <a:xfrm>
            <a:off x="1770434" y="1079771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2E803C-F2DF-554B-F700-416E67673B6E}"/>
              </a:ext>
            </a:extLst>
          </p:cNvPr>
          <p:cNvCxnSpPr>
            <a:cxnSpLocks/>
          </p:cNvCxnSpPr>
          <p:nvPr/>
        </p:nvCxnSpPr>
        <p:spPr>
          <a:xfrm flipV="1">
            <a:off x="933855" y="4542817"/>
            <a:ext cx="0" cy="16245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2506B4-CF02-02DE-CB1F-135176AB2946}"/>
              </a:ext>
            </a:extLst>
          </p:cNvPr>
          <p:cNvCxnSpPr>
            <a:cxnSpLocks/>
          </p:cNvCxnSpPr>
          <p:nvPr/>
        </p:nvCxnSpPr>
        <p:spPr>
          <a:xfrm>
            <a:off x="4756826" y="632298"/>
            <a:ext cx="904672" cy="5642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EDDFC1-9120-DFFF-54CC-1B832D77FF8B}"/>
              </a:ext>
            </a:extLst>
          </p:cNvPr>
          <p:cNvCxnSpPr>
            <a:cxnSpLocks/>
          </p:cNvCxnSpPr>
          <p:nvPr/>
        </p:nvCxnSpPr>
        <p:spPr>
          <a:xfrm>
            <a:off x="4873557" y="554477"/>
            <a:ext cx="4600643" cy="652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83017D2-E963-945F-BAC9-7848963F0F3E}"/>
              </a:ext>
            </a:extLst>
          </p:cNvPr>
          <p:cNvSpPr/>
          <p:nvPr/>
        </p:nvSpPr>
        <p:spPr>
          <a:xfrm>
            <a:off x="5612859" y="1108954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23DFEB-FB5E-07D7-D8EA-AB8E3AB9B225}"/>
              </a:ext>
            </a:extLst>
          </p:cNvPr>
          <p:cNvSpPr/>
          <p:nvPr/>
        </p:nvSpPr>
        <p:spPr>
          <a:xfrm>
            <a:off x="9474740" y="1079771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63130-ED52-F593-5744-5DB34FF603ED}"/>
              </a:ext>
            </a:extLst>
          </p:cNvPr>
          <p:cNvSpPr txBox="1"/>
          <p:nvPr/>
        </p:nvSpPr>
        <p:spPr>
          <a:xfrm>
            <a:off x="3686783" y="330740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9115D5-FC92-47B1-02B9-FB6F8713E29D}"/>
              </a:ext>
            </a:extLst>
          </p:cNvPr>
          <p:cNvSpPr txBox="1"/>
          <p:nvPr/>
        </p:nvSpPr>
        <p:spPr>
          <a:xfrm>
            <a:off x="0" y="6245158"/>
            <a:ext cx="20045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 (z-score &gt;= 1.7)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B2468D-6615-8570-935D-A116F06846DB}"/>
              </a:ext>
            </a:extLst>
          </p:cNvPr>
          <p:cNvCxnSpPr>
            <a:cxnSpLocks/>
          </p:cNvCxnSpPr>
          <p:nvPr/>
        </p:nvCxnSpPr>
        <p:spPr>
          <a:xfrm flipH="1">
            <a:off x="2791838" y="642026"/>
            <a:ext cx="846307" cy="418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55E2C3-7969-024C-CE09-37C3FC924090}"/>
              </a:ext>
            </a:extLst>
          </p:cNvPr>
          <p:cNvSpPr txBox="1"/>
          <p:nvPr/>
        </p:nvSpPr>
        <p:spPr>
          <a:xfrm>
            <a:off x="2626468" y="6361890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z-score &gt;= 1.7</a:t>
            </a:r>
          </a:p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matching the motif shown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B177A1-67B3-1EB3-E17C-2F13D40263E8}"/>
              </a:ext>
            </a:extLst>
          </p:cNvPr>
          <p:cNvCxnSpPr>
            <a:cxnSpLocks/>
          </p:cNvCxnSpPr>
          <p:nvPr/>
        </p:nvCxnSpPr>
        <p:spPr>
          <a:xfrm flipH="1" flipV="1">
            <a:off x="2821021" y="5797686"/>
            <a:ext cx="350196" cy="535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E8446D-E034-2FAC-876C-C0EB2F035AC1}"/>
              </a:ext>
            </a:extLst>
          </p:cNvPr>
          <p:cNvCxnSpPr>
            <a:cxnSpLocks/>
          </p:cNvCxnSpPr>
          <p:nvPr/>
        </p:nvCxnSpPr>
        <p:spPr>
          <a:xfrm flipV="1">
            <a:off x="3297677" y="5729593"/>
            <a:ext cx="0" cy="554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D8A675-75AA-7966-33D6-2A810204164C}"/>
              </a:ext>
            </a:extLst>
          </p:cNvPr>
          <p:cNvCxnSpPr>
            <a:cxnSpLocks/>
          </p:cNvCxnSpPr>
          <p:nvPr/>
        </p:nvCxnSpPr>
        <p:spPr>
          <a:xfrm flipH="1">
            <a:off x="6502400" y="647700"/>
            <a:ext cx="228600" cy="393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FA71C77-0C7E-5E73-3A20-744B9A023E98}"/>
              </a:ext>
            </a:extLst>
          </p:cNvPr>
          <p:cNvSpPr txBox="1"/>
          <p:nvPr/>
        </p:nvSpPr>
        <p:spPr>
          <a:xfrm>
            <a:off x="5765800" y="165100"/>
            <a:ext cx="24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[FWY]xx[LVI]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0A33E-08A9-B213-0B58-AE61C3C343F1}"/>
              </a:ext>
            </a:extLst>
          </p:cNvPr>
          <p:cNvSpPr txBox="1"/>
          <p:nvPr/>
        </p:nvSpPr>
        <p:spPr>
          <a:xfrm>
            <a:off x="9245600" y="215900"/>
            <a:ext cx="2542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[FWY]xx[FWY]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24E15C-89A8-2263-A691-528F5A55884B}"/>
              </a:ext>
            </a:extLst>
          </p:cNvPr>
          <p:cNvCxnSpPr>
            <a:cxnSpLocks/>
          </p:cNvCxnSpPr>
          <p:nvPr/>
        </p:nvCxnSpPr>
        <p:spPr>
          <a:xfrm flipH="1">
            <a:off x="10127014" y="711200"/>
            <a:ext cx="134586" cy="325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E729-62D5-574A-3D52-6116D251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6C56B-EB59-C6D5-F726-33D009A83ACE}"/>
              </a:ext>
            </a:extLst>
          </p:cNvPr>
          <p:cNvSpPr txBox="1"/>
          <p:nvPr/>
        </p:nvSpPr>
        <p:spPr>
          <a:xfrm>
            <a:off x="1696026" y="3728412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39F4F54-80AB-CA6C-9604-04683A380219}"/>
              </a:ext>
            </a:extLst>
          </p:cNvPr>
          <p:cNvCxnSpPr>
            <a:cxnSpLocks/>
          </p:cNvCxnSpPr>
          <p:nvPr/>
        </p:nvCxnSpPr>
        <p:spPr>
          <a:xfrm>
            <a:off x="3460447" y="3972813"/>
            <a:ext cx="1092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58D8FB3-08B2-5564-DB14-2A43026837A4}"/>
              </a:ext>
            </a:extLst>
          </p:cNvPr>
          <p:cNvSpPr txBox="1"/>
          <p:nvPr/>
        </p:nvSpPr>
        <p:spPr>
          <a:xfrm>
            <a:off x="4775221" y="3657425"/>
            <a:ext cx="242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binders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1808E5-9856-2547-2FE1-7C8E44EA90BD}"/>
              </a:ext>
            </a:extLst>
          </p:cNvPr>
          <p:cNvCxnSpPr>
            <a:cxnSpLocks/>
          </p:cNvCxnSpPr>
          <p:nvPr/>
        </p:nvCxnSpPr>
        <p:spPr>
          <a:xfrm>
            <a:off x="7234161" y="4030870"/>
            <a:ext cx="1048960" cy="63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61C43B-6E37-B290-0E84-B308001EB697}"/>
              </a:ext>
            </a:extLst>
          </p:cNvPr>
          <p:cNvCxnSpPr>
            <a:cxnSpLocks/>
          </p:cNvCxnSpPr>
          <p:nvPr/>
        </p:nvCxnSpPr>
        <p:spPr>
          <a:xfrm>
            <a:off x="7296150" y="2374899"/>
            <a:ext cx="963246" cy="31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24A793-F7B8-1FEB-2399-D2192E2B1C3E}"/>
              </a:ext>
            </a:extLst>
          </p:cNvPr>
          <p:cNvSpPr txBox="1"/>
          <p:nvPr/>
        </p:nvSpPr>
        <p:spPr>
          <a:xfrm>
            <a:off x="4712607" y="2157186"/>
            <a:ext cx="240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nonbinders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920E17-76E1-3A23-066B-2F73C6030622}"/>
              </a:ext>
            </a:extLst>
          </p:cNvPr>
          <p:cNvCxnSpPr>
            <a:cxnSpLocks/>
          </p:cNvCxnSpPr>
          <p:nvPr/>
        </p:nvCxnSpPr>
        <p:spPr>
          <a:xfrm flipV="1">
            <a:off x="3373361" y="2476500"/>
            <a:ext cx="1236739" cy="98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FB45A0-ABC7-86E8-7207-17851BA0AF61}"/>
              </a:ext>
            </a:extLst>
          </p:cNvPr>
          <p:cNvCxnSpPr>
            <a:cxnSpLocks/>
          </p:cNvCxnSpPr>
          <p:nvPr/>
        </p:nvCxnSpPr>
        <p:spPr>
          <a:xfrm flipV="1">
            <a:off x="7234161" y="3086100"/>
            <a:ext cx="1019932" cy="596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2E9CD2-6D27-4A24-AC53-855FBEF0549F}"/>
              </a:ext>
            </a:extLst>
          </p:cNvPr>
          <p:cNvCxnSpPr>
            <a:cxnSpLocks/>
          </p:cNvCxnSpPr>
          <p:nvPr/>
        </p:nvCxnSpPr>
        <p:spPr>
          <a:xfrm>
            <a:off x="2301840" y="43053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1F12D4D-165C-054C-1CFE-72EE7AE900A2}"/>
              </a:ext>
            </a:extLst>
          </p:cNvPr>
          <p:cNvSpPr txBox="1"/>
          <p:nvPr/>
        </p:nvSpPr>
        <p:spPr>
          <a:xfrm>
            <a:off x="1221921" y="57690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FF0496-022E-6BE4-954D-FD5232883077}"/>
              </a:ext>
            </a:extLst>
          </p:cNvPr>
          <p:cNvSpPr txBox="1"/>
          <p:nvPr/>
        </p:nvSpPr>
        <p:spPr>
          <a:xfrm>
            <a:off x="8364904" y="274026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 set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4390A4-669F-A1B9-6520-1E629B1BD5C4}"/>
              </a:ext>
            </a:extLst>
          </p:cNvPr>
          <p:cNvSpPr txBox="1"/>
          <p:nvPr/>
        </p:nvSpPr>
        <p:spPr>
          <a:xfrm>
            <a:off x="8329735" y="46042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”train”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150935-F09F-D729-266A-174BF5B3EAE0}"/>
              </a:ext>
            </a:extLst>
          </p:cNvPr>
          <p:cNvSpPr txBox="1"/>
          <p:nvPr/>
        </p:nvSpPr>
        <p:spPr>
          <a:xfrm>
            <a:off x="9121042" y="45573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</a:t>
            </a: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9CE3D9B9-C717-9FDD-DF33-44F439EA4CEB}"/>
              </a:ext>
            </a:extLst>
          </p:cNvPr>
          <p:cNvSpPr/>
          <p:nvPr/>
        </p:nvSpPr>
        <p:spPr>
          <a:xfrm>
            <a:off x="9709657" y="4248787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B574ED03-D8F6-903A-4879-D58E514E56F9}"/>
              </a:ext>
            </a:extLst>
          </p:cNvPr>
          <p:cNvSpPr/>
          <p:nvPr/>
        </p:nvSpPr>
        <p:spPr>
          <a:xfrm>
            <a:off x="9264528" y="25361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135FBB17-93BA-183F-22A4-54ED32FAB12A}"/>
              </a:ext>
            </a:extLst>
          </p:cNvPr>
          <p:cNvSpPr/>
          <p:nvPr/>
        </p:nvSpPr>
        <p:spPr>
          <a:xfrm>
            <a:off x="2474120" y="54916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D2A1BE-7F2E-F0A8-3F71-53B15E446B76}"/>
              </a:ext>
            </a:extLst>
          </p:cNvPr>
          <p:cNvGrpSpPr/>
          <p:nvPr/>
        </p:nvGrpSpPr>
        <p:grpSpPr>
          <a:xfrm>
            <a:off x="127000" y="647700"/>
            <a:ext cx="2235200" cy="850900"/>
            <a:chOff x="114300" y="165100"/>
            <a:chExt cx="2235200" cy="850900"/>
          </a:xfrm>
        </p:grpSpPr>
        <p:sp>
          <p:nvSpPr>
            <p:cNvPr id="49" name="5-Point Star 48">
              <a:extLst>
                <a:ext uri="{FF2B5EF4-FFF2-40B4-BE49-F238E27FC236}">
                  <a16:creationId xmlns:a16="http://schemas.microsoft.com/office/drawing/2014/main" id="{754FDAEE-3799-3B3B-3168-101870CF768F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801B15C-F4A3-DEA8-E11C-3B0BB7335B2B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A68D4E-3934-136B-A53E-80AB206E22CE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7" name="5-Point Star 6">
              <a:extLst>
                <a:ext uri="{FF2B5EF4-FFF2-40B4-BE49-F238E27FC236}">
                  <a16:creationId xmlns:a16="http://schemas.microsoft.com/office/drawing/2014/main" id="{FE7F3B65-B519-F9A4-6144-AE72DA38BAD5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635626-EEA7-5654-94B2-0F6E1862152C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C2ACFE2-5F0D-79EC-69BC-97CAAA549950}"/>
              </a:ext>
            </a:extLst>
          </p:cNvPr>
          <p:cNvSpPr txBox="1"/>
          <p:nvPr/>
        </p:nvSpPr>
        <p:spPr>
          <a:xfrm>
            <a:off x="3200400" y="73660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29BC5E91-DBB9-1DBA-68F1-43F4AB8FFB53}"/>
              </a:ext>
            </a:extLst>
          </p:cNvPr>
          <p:cNvSpPr/>
          <p:nvPr/>
        </p:nvSpPr>
        <p:spPr>
          <a:xfrm>
            <a:off x="3528220" y="5132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1338E-C42A-9352-2FE5-BBCEF5A17406}"/>
              </a:ext>
            </a:extLst>
          </p:cNvPr>
          <p:cNvSpPr txBox="1"/>
          <p:nvPr/>
        </p:nvSpPr>
        <p:spPr>
          <a:xfrm>
            <a:off x="5913804" y="644769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F1C21CFF-7083-CB6C-CA04-081DC262AC9D}"/>
              </a:ext>
            </a:extLst>
          </p:cNvPr>
          <p:cNvSpPr/>
          <p:nvPr/>
        </p:nvSpPr>
        <p:spPr>
          <a:xfrm>
            <a:off x="6813428" y="4406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4A5ED-D122-5FEA-F1B2-AD1FD136B70C}"/>
              </a:ext>
            </a:extLst>
          </p:cNvPr>
          <p:cNvSpPr txBox="1"/>
          <p:nvPr/>
        </p:nvSpPr>
        <p:spPr>
          <a:xfrm>
            <a:off x="215900" y="1778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experiment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4A3FFC-8948-30F3-84C5-27950D535521}"/>
              </a:ext>
            </a:extLst>
          </p:cNvPr>
          <p:cNvSpPr txBox="1"/>
          <p:nvPr/>
        </p:nvSpPr>
        <p:spPr>
          <a:xfrm>
            <a:off x="5158015" y="4650015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1.7&lt;= z-score &lt;= 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A8C95F-12E1-1468-915D-CBA780280ADA}"/>
              </a:ext>
            </a:extLst>
          </p:cNvPr>
          <p:cNvSpPr txBox="1"/>
          <p:nvPr/>
        </p:nvSpPr>
        <p:spPr>
          <a:xfrm>
            <a:off x="5127172" y="4918529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2.0 &lt;= z-score &lt;= 2.5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2702A-AFDA-3C2B-0FC6-55D28C5A0024}"/>
              </a:ext>
            </a:extLst>
          </p:cNvPr>
          <p:cNvSpPr txBox="1"/>
          <p:nvPr/>
        </p:nvSpPr>
        <p:spPr>
          <a:xfrm>
            <a:off x="5128986" y="5217886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2.5 &lt;= z-score &lt;= 4.2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258D1-1BC2-E152-D2DE-4F49F718BDC3}"/>
              </a:ext>
            </a:extLst>
          </p:cNvPr>
          <p:cNvSpPr txBox="1"/>
          <p:nvPr/>
        </p:nvSpPr>
        <p:spPr>
          <a:xfrm>
            <a:off x="5194300" y="4343400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 &lt;= z-score &lt;= 4.2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262A6C-1B9A-10E3-AFE0-F59F00147A90}"/>
              </a:ext>
            </a:extLst>
          </p:cNvPr>
          <p:cNvCxnSpPr>
            <a:cxnSpLocks/>
          </p:cNvCxnSpPr>
          <p:nvPr/>
        </p:nvCxnSpPr>
        <p:spPr>
          <a:xfrm flipV="1">
            <a:off x="4762500" y="4506213"/>
            <a:ext cx="438149" cy="24358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725622-5E7D-ACB0-6751-2FAC3CFC341A}"/>
              </a:ext>
            </a:extLst>
          </p:cNvPr>
          <p:cNvSpPr txBox="1"/>
          <p:nvPr/>
        </p:nvSpPr>
        <p:spPr>
          <a:xfrm>
            <a:off x="3784600" y="4762500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all binders</a:t>
            </a:r>
          </a:p>
        </p:txBody>
      </p:sp>
    </p:spTree>
    <p:extLst>
      <p:ext uri="{BB962C8B-B14F-4D97-AF65-F5344CB8AC3E}">
        <p14:creationId xmlns:p14="http://schemas.microsoft.com/office/powerpoint/2010/main" val="2300690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2A1E-CE82-911E-016A-36DFC073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F866817-3AC4-504C-7C18-AF30C8D3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16"/>
          <a:stretch>
            <a:fillRect/>
          </a:stretch>
        </p:blipFill>
        <p:spPr>
          <a:xfrm>
            <a:off x="1" y="1822893"/>
            <a:ext cx="12090400" cy="310470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7AC13ED-7567-C223-3215-767AA0B8BC4A}"/>
              </a:ext>
            </a:extLst>
          </p:cNvPr>
          <p:cNvSpPr/>
          <p:nvPr/>
        </p:nvSpPr>
        <p:spPr>
          <a:xfrm>
            <a:off x="640134" y="1613171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FCE3CC-81B9-93E4-9445-A26411679CA4}"/>
              </a:ext>
            </a:extLst>
          </p:cNvPr>
          <p:cNvCxnSpPr>
            <a:cxnSpLocks/>
          </p:cNvCxnSpPr>
          <p:nvPr/>
        </p:nvCxnSpPr>
        <p:spPr>
          <a:xfrm flipH="1">
            <a:off x="4051300" y="812800"/>
            <a:ext cx="101600" cy="86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62D718-EEE4-6AD9-F68D-B3DF41FB0F53}"/>
              </a:ext>
            </a:extLst>
          </p:cNvPr>
          <p:cNvCxnSpPr>
            <a:cxnSpLocks/>
          </p:cNvCxnSpPr>
          <p:nvPr/>
        </p:nvCxnSpPr>
        <p:spPr>
          <a:xfrm>
            <a:off x="4483100" y="812800"/>
            <a:ext cx="1397000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5DF5866-3C16-BA0E-4F6A-24661702DBC8}"/>
              </a:ext>
            </a:extLst>
          </p:cNvPr>
          <p:cNvSpPr/>
          <p:nvPr/>
        </p:nvSpPr>
        <p:spPr>
          <a:xfrm>
            <a:off x="2869658" y="1718554"/>
            <a:ext cx="2057941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6A480B-738F-B65E-E91F-DA5CED46B9AB}"/>
              </a:ext>
            </a:extLst>
          </p:cNvPr>
          <p:cNvSpPr/>
          <p:nvPr/>
        </p:nvSpPr>
        <p:spPr>
          <a:xfrm>
            <a:off x="5232940" y="1689371"/>
            <a:ext cx="1967960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C5FF7-AD20-B529-4384-97EE5EB3E4DF}"/>
              </a:ext>
            </a:extLst>
          </p:cNvPr>
          <p:cNvSpPr txBox="1"/>
          <p:nvPr/>
        </p:nvSpPr>
        <p:spPr>
          <a:xfrm>
            <a:off x="3686783" y="330740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A9BC43-B2A0-8B26-731E-93F9DF7AF5BD}"/>
              </a:ext>
            </a:extLst>
          </p:cNvPr>
          <p:cNvCxnSpPr>
            <a:cxnSpLocks/>
            <a:endCxn id="3" idx="7"/>
          </p:cNvCxnSpPr>
          <p:nvPr/>
        </p:nvCxnSpPr>
        <p:spPr>
          <a:xfrm flipH="1">
            <a:off x="1678019" y="660400"/>
            <a:ext cx="1928781" cy="102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D5DE0A7-4D8D-CE31-3102-CF72FEACC6B1}"/>
              </a:ext>
            </a:extLst>
          </p:cNvPr>
          <p:cNvSpPr/>
          <p:nvPr/>
        </p:nvSpPr>
        <p:spPr>
          <a:xfrm>
            <a:off x="7684040" y="1714771"/>
            <a:ext cx="1967960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EF11A7-604D-EB4D-2411-AA27F7EDCA82}"/>
              </a:ext>
            </a:extLst>
          </p:cNvPr>
          <p:cNvCxnSpPr>
            <a:cxnSpLocks/>
          </p:cNvCxnSpPr>
          <p:nvPr/>
        </p:nvCxnSpPr>
        <p:spPr>
          <a:xfrm>
            <a:off x="4749800" y="774700"/>
            <a:ext cx="3708400" cy="901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AA62F1-90FA-F26E-10BF-463EFBD5CEAF}"/>
              </a:ext>
            </a:extLst>
          </p:cNvPr>
          <p:cNvCxnSpPr>
            <a:cxnSpLocks/>
          </p:cNvCxnSpPr>
          <p:nvPr/>
        </p:nvCxnSpPr>
        <p:spPr>
          <a:xfrm flipV="1">
            <a:off x="476655" y="4885717"/>
            <a:ext cx="0" cy="549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0F0DB2-9E5F-A4E2-2BA0-F27FCB5738F6}"/>
              </a:ext>
            </a:extLst>
          </p:cNvPr>
          <p:cNvSpPr txBox="1"/>
          <p:nvPr/>
        </p:nvSpPr>
        <p:spPr>
          <a:xfrm>
            <a:off x="88900" y="5495858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89711D-A07B-3754-B95E-EA75E12450C3}"/>
              </a:ext>
            </a:extLst>
          </p:cNvPr>
          <p:cNvSpPr/>
          <p:nvPr/>
        </p:nvSpPr>
        <p:spPr>
          <a:xfrm>
            <a:off x="10224040" y="1676671"/>
            <a:ext cx="1801383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F9209F-53F4-49F1-EEDC-D81BFD03AF22}"/>
              </a:ext>
            </a:extLst>
          </p:cNvPr>
          <p:cNvCxnSpPr>
            <a:cxnSpLocks/>
          </p:cNvCxnSpPr>
          <p:nvPr/>
        </p:nvCxnSpPr>
        <p:spPr>
          <a:xfrm>
            <a:off x="4953000" y="660400"/>
            <a:ext cx="5410200" cy="1079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58C25C-0AB4-5977-27AD-FEE9218AD8DB}"/>
              </a:ext>
            </a:extLst>
          </p:cNvPr>
          <p:cNvCxnSpPr>
            <a:cxnSpLocks/>
          </p:cNvCxnSpPr>
          <p:nvPr/>
        </p:nvCxnSpPr>
        <p:spPr>
          <a:xfrm>
            <a:off x="3077308" y="1553308"/>
            <a:ext cx="231530" cy="1807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C4628F7-18F8-7BD0-FA2F-AA27C605264A}"/>
              </a:ext>
            </a:extLst>
          </p:cNvPr>
          <p:cNvSpPr txBox="1"/>
          <p:nvPr/>
        </p:nvSpPr>
        <p:spPr>
          <a:xfrm>
            <a:off x="2476500" y="1292158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</p:spTree>
    <p:extLst>
      <p:ext uri="{BB962C8B-B14F-4D97-AF65-F5344CB8AC3E}">
        <p14:creationId xmlns:p14="http://schemas.microsoft.com/office/powerpoint/2010/main" val="433725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F19422-1EBA-3125-59A9-6DDE25496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1707"/>
            <a:ext cx="7772400" cy="41137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900825-0149-5F26-440A-60452FE84483}"/>
              </a:ext>
            </a:extLst>
          </p:cNvPr>
          <p:cNvSpPr txBox="1"/>
          <p:nvPr/>
        </p:nvSpPr>
        <p:spPr>
          <a:xfrm>
            <a:off x="501445" y="157316"/>
            <a:ext cx="4200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issue with how python handles regexes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9761C-77B3-295C-DD35-97A0EA974AB6}"/>
              </a:ext>
            </a:extLst>
          </p:cNvPr>
          <p:cNvSpPr txBox="1"/>
          <p:nvPr/>
        </p:nvSpPr>
        <p:spPr>
          <a:xfrm>
            <a:off x="353961" y="5663381"/>
            <a:ext cx="11008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For the starting dataset, when overlapping motifs were present, only the first (N-term) motif was counted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127F58-77FA-0E3A-9686-5B1B119453A9}"/>
              </a:ext>
            </a:extLst>
          </p:cNvPr>
          <p:cNvCxnSpPr>
            <a:cxnSpLocks/>
          </p:cNvCxnSpPr>
          <p:nvPr/>
        </p:nvCxnSpPr>
        <p:spPr>
          <a:xfrm flipH="1">
            <a:off x="7970655" y="2686556"/>
            <a:ext cx="728283" cy="9063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90ADCA-79BE-E1AE-F375-080E6AEBA1D3}"/>
              </a:ext>
            </a:extLst>
          </p:cNvPr>
          <p:cNvSpPr txBox="1"/>
          <p:nvPr/>
        </p:nvSpPr>
        <p:spPr>
          <a:xfrm>
            <a:off x="7841183" y="2281955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lookahead group</a:t>
            </a:r>
          </a:p>
        </p:txBody>
      </p:sp>
    </p:spTree>
    <p:extLst>
      <p:ext uri="{BB962C8B-B14F-4D97-AF65-F5344CB8AC3E}">
        <p14:creationId xmlns:p14="http://schemas.microsoft.com/office/powerpoint/2010/main" val="3444858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940A2-9C33-4DBB-BEC5-8D8B64C0D8AF}"/>
              </a:ext>
            </a:extLst>
          </p:cNvPr>
          <p:cNvSpPr txBox="1"/>
          <p:nvPr/>
        </p:nvSpPr>
        <p:spPr>
          <a:xfrm>
            <a:off x="331773" y="242761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Dataset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9E047-9A65-3F7B-7EC1-752FD4E8F57D}"/>
              </a:ext>
            </a:extLst>
          </p:cNvPr>
          <p:cNvSpPr txBox="1"/>
          <p:nvPr/>
        </p:nvSpPr>
        <p:spPr>
          <a:xfrm>
            <a:off x="283221" y="946768"/>
            <a:ext cx="351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V1 – overlapping regex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5A184-9D75-5D2F-6AD8-C96B13D08452}"/>
              </a:ext>
            </a:extLst>
          </p:cNvPr>
          <p:cNvSpPr txBox="1"/>
          <p:nvPr/>
        </p:nvSpPr>
        <p:spPr>
          <a:xfrm>
            <a:off x="354701" y="3025073"/>
            <a:ext cx="462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V2 – removed any sequences with &gt;1 motif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48A93-C4B6-A351-9941-AD682706E2A7}"/>
              </a:ext>
            </a:extLst>
          </p:cNvPr>
          <p:cNvSpPr txBox="1"/>
          <p:nvPr/>
        </p:nvSpPr>
        <p:spPr>
          <a:xfrm>
            <a:off x="435621" y="4845780"/>
            <a:ext cx="505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V3 – split all motif matches into separate 7mers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A0812-CAE0-7360-157B-E92A4EF691AE}"/>
              </a:ext>
            </a:extLst>
          </p:cNvPr>
          <p:cNvSpPr txBox="1"/>
          <p:nvPr/>
        </p:nvSpPr>
        <p:spPr>
          <a:xfrm>
            <a:off x="493615" y="1335185"/>
            <a:ext cx="4070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There is no rationale I can think of to justify using this set? only v2 or v3 make sense to me</a:t>
            </a:r>
          </a:p>
        </p:txBody>
      </p:sp>
    </p:spTree>
    <p:extLst>
      <p:ext uri="{BB962C8B-B14F-4D97-AF65-F5344CB8AC3E}">
        <p14:creationId xmlns:p14="http://schemas.microsoft.com/office/powerpoint/2010/main" val="2841465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72B1-290A-8287-862B-58723D90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837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343C-2653-BF34-9220-B5BDF9C7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952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CF27-58CE-A96F-7037-476C791D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19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301F-7EE8-CB15-C208-418EE1B2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919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517C-2D99-0695-1E2F-447C8335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89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>
            <a:latin typeface="Avenir Book" panose="02000503020000020003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5050</TotalTime>
  <Words>782</Words>
  <Application>Microsoft Macintosh PowerPoint</Application>
  <PresentationFormat>Widescreen</PresentationFormat>
  <Paragraphs>159</Paragraphs>
  <Slides>28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Avenir Black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Halpin</dc:creator>
  <cp:lastModifiedBy>Jackson Halpin</cp:lastModifiedBy>
  <cp:revision>67</cp:revision>
  <dcterms:created xsi:type="dcterms:W3CDTF">2025-05-16T17:34:33Z</dcterms:created>
  <dcterms:modified xsi:type="dcterms:W3CDTF">2025-07-11T17:08:10Z</dcterms:modified>
</cp:coreProperties>
</file>